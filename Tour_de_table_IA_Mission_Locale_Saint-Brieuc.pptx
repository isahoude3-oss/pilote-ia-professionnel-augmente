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ages" id="{289620de-a98c-9349-9c14-17a16462e2d7}">
          <p14:sldIdLst>
            <p14:sldId id="256"/>
          </p14:sldIdLst>
        </p14:section>
        <p14:section name="Attentes" id="{9936bca3-8bef-b841-6809-30c98f53a381}">
          <p14:sldIdLst>
            <p14:sldId id="257"/>
          </p14:sldIdLst>
        </p14:section>
        <p14:section name="Outils" id="{46a7b81f-dc80-de07-b169-99587909cef2}">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Cartographie des usages exprimés lors du tour de table. 27 usages cités, regroupés en 6 familles. Planifier est le seul usage cité deux fois. Signal à retenir : l'IA utilisée pour compenser un trouble dys.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Gagner du temps a été cité de manière récurrente : attente n°1. Mais les attentes de fiabilité et d'esprit critique (9 mentions cumulées) pèsent autant que le gain de productivité. Les questionnements portent sur le cadre légal et éthique et sur l'avenir du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Outils cités : Copilot, ChatGPT, Gemini, Claude, Notion. Quatre assistants conversationnels généralistes et un espace de travail qui intègre l'IA. Les pistes de suite découlent directement des attentes exprimées.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clair">
    <p:bg>
      <p:bgPr>
        <a:solidFill>
          <a:schemeClr val="bg2"/>
        </a:solidFill>
      </p:bgPr>
    </p:bg>
    <p:spTree>
      <p:nvGrpSpPr>
        <p:cNvPr id="1" name=""/>
        <p:cNvGrpSpPr/>
        <p:nvPr/>
      </p:nvGrpSpPr>
      <p:grpSpPr>
        <a:xfrm>
          <a:off x="0" y="0"/>
          <a:ext cx="0" cy="0"/>
          <a:chOff x="0" y="0"/>
          <a:chExt cx="0" cy="0"/>
        </a:xfrm>
      </p:grpSpPr>
      <p:pic>
        <p:nvPicPr>
          <p:cNvPr id="2" name="Image 0" descr="/tmp/claude-0/-home-user-pilote-ia-professionnel-augmente/9293fe34-8df1-5707-a761-9a888430ae42/scratchpad/logo-graphite.png">    </p:cNvPr>
          <p:cNvPicPr>
            <a:picLocks noChangeAspect="1"/>
          </p:cNvPicPr>
          <p:nvPr/>
        </p:nvPicPr>
        <p:blipFill>
          <a:blip r:embed="rId1"/>
          <a:stretch>
            <a:fillRect/>
          </a:stretch>
        </p:blipFill>
        <p:spPr>
          <a:xfrm>
            <a:off x="11228832" y="6199632"/>
            <a:ext cx="571045" cy="457200"/>
          </a:xfrm>
          <a:prstGeom prst="rect">
            <a:avLst/>
          </a:prstGeom>
        </p:spPr>
      </p:pic>
      <p:sp>
        <p:nvSpPr>
          <p:cNvPr id="3" name="Text 0"/>
          <p:cNvSpPr/>
          <p:nvPr>
            <p:ph idx="101" type="body" hasCustomPrompt="1"/>
          </p:nvPr>
        </p:nvSpPr>
        <p:spPr>
          <a:xfrm>
            <a:off x="548640" y="384048"/>
            <a:ext cx="8686800" cy="292608"/>
          </a:xfrm>
          <a:prstGeom prst="rect">
            <a:avLst/>
          </a:prstGeom>
          <a:noFill/>
          <a:ln/>
        </p:spPr>
        <p:txBody>
          <a:bodyPr wrap="square" rtlCol="0"/>
          <a:lstStyle>
            <a:lvl1pPr indent="0" marL="0">
              <a:buNone/>
              <a:defRPr lang="en-US" sz="1200" b="1" spc="200" kern="0" dirty="0">
                <a:solidFill>
                  <a:schemeClr val="accent1"/>
                </a:solidFill>
                <a:latin typeface="Inter" pitchFamily="34" charset="0"/>
                <a:ea typeface="Inter" pitchFamily="34" charset="-122"/>
                <a:cs typeface="Inter" pitchFamily="34" charset="-120"/>
              </a:defRPr>
            </a:lvl1pPr>
          </a:lstStyle>
          <a:p>
            <a:pPr indent="0" marL="0">
              <a:buNone/>
            </a:pPr>
            <a:endParaRPr lang="en-US" sz="1200" dirty="0"/>
          </a:p>
        </p:txBody>
      </p:sp>
      <p:sp>
        <p:nvSpPr>
          <p:cNvPr id="4" name="Text 0"/>
          <p:cNvSpPr/>
          <p:nvPr>
            <p:ph idx="102" type="title" hasCustomPrompt="1"/>
          </p:nvPr>
        </p:nvSpPr>
        <p:spPr>
          <a:xfrm>
            <a:off x="548640" y="694944"/>
            <a:ext cx="10515600" cy="731520"/>
          </a:xfrm>
          <a:prstGeom prst="rect">
            <a:avLst/>
          </a:prstGeom>
          <a:noFill/>
          <a:ln/>
        </p:spPr>
        <p:txBody>
          <a:bodyPr wrap="square" rtlCol="0"/>
          <a:lstStyle>
            <a:lvl1pPr algn="l" indent="0" marL="0">
              <a:buNone/>
              <a:defRPr lang="en-US" sz="3600" b="1" dirty="0">
                <a:solidFill>
                  <a:schemeClr val="tx1"/>
                </a:solidFill>
                <a:latin typeface="Inter" pitchFamily="34" charset="0"/>
                <a:ea typeface="Inter" pitchFamily="34" charset="-122"/>
                <a:cs typeface="Inter"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foret">
    <p:bg>
      <p:bgPr>
        <a:solidFill>
          <a:schemeClr val="tx2"/>
        </a:solidFill>
      </p:bgPr>
    </p:bg>
    <p:spTree>
      <p:nvGrpSpPr>
        <p:cNvPr id="1" name=""/>
        <p:cNvGrpSpPr/>
        <p:nvPr/>
      </p:nvGrpSpPr>
      <p:grpSpPr>
        <a:xfrm>
          <a:off x="0" y="0"/>
          <a:ext cx="0" cy="0"/>
          <a:chOff x="0" y="0"/>
          <a:chExt cx="0" cy="0"/>
        </a:xfrm>
      </p:grpSpPr>
      <p:pic>
        <p:nvPicPr>
          <p:cNvPr id="2" name="Image 0" descr="/tmp/claude-0/-home-user-pilote-ia-professionnel-augmente/9293fe34-8df1-5707-a761-9a888430ae42/scratchpad/logo-brume.png">    </p:cNvPr>
          <p:cNvPicPr>
            <a:picLocks noChangeAspect="1"/>
          </p:cNvPicPr>
          <p:nvPr/>
        </p:nvPicPr>
        <p:blipFill>
          <a:blip r:embed="rId1"/>
          <a:stretch>
            <a:fillRect/>
          </a:stretch>
        </p:blipFill>
        <p:spPr>
          <a:xfrm>
            <a:off x="11228832" y="6199632"/>
            <a:ext cx="583415" cy="457200"/>
          </a:xfrm>
          <a:prstGeom prst="rect">
            <a:avLst/>
          </a:prstGeom>
        </p:spPr>
      </p:pic>
      <p:sp>
        <p:nvSpPr>
          <p:cNvPr id="3" name="Text 0"/>
          <p:cNvSpPr/>
          <p:nvPr>
            <p:ph idx="101" type="body" hasCustomPrompt="1"/>
          </p:nvPr>
        </p:nvSpPr>
        <p:spPr>
          <a:xfrm>
            <a:off x="548640" y="384048"/>
            <a:ext cx="8686800" cy="292608"/>
          </a:xfrm>
          <a:prstGeom prst="rect">
            <a:avLst/>
          </a:prstGeom>
          <a:noFill/>
          <a:ln/>
        </p:spPr>
        <p:txBody>
          <a:bodyPr wrap="square" rtlCol="0"/>
          <a:lstStyle>
            <a:lvl1pPr indent="0" marL="0">
              <a:buNone/>
              <a:defRPr lang="en-US" sz="1200" b="1" spc="200" kern="0" dirty="0">
                <a:solidFill>
                  <a:schemeClr val="accent2"/>
                </a:solidFill>
                <a:latin typeface="Inter" pitchFamily="34" charset="0"/>
                <a:ea typeface="Inter" pitchFamily="34" charset="-122"/>
                <a:cs typeface="Inter" pitchFamily="34" charset="-120"/>
              </a:defRPr>
            </a:lvl1pPr>
          </a:lstStyle>
          <a:p>
            <a:pPr indent="0" marL="0">
              <a:buNone/>
            </a:pPr>
            <a:endParaRPr lang="en-US" sz="1200" dirty="0"/>
          </a:p>
        </p:txBody>
      </p:sp>
      <p:sp>
        <p:nvSpPr>
          <p:cNvPr id="4" name="Text 0"/>
          <p:cNvSpPr/>
          <p:nvPr>
            <p:ph idx="102" type="title" hasCustomPrompt="1"/>
          </p:nvPr>
        </p:nvSpPr>
        <p:spPr>
          <a:xfrm>
            <a:off x="548640" y="694944"/>
            <a:ext cx="10515600" cy="731520"/>
          </a:xfrm>
          <a:prstGeom prst="rect">
            <a:avLst/>
          </a:prstGeom>
          <a:noFill/>
          <a:ln/>
        </p:spPr>
        <p:txBody>
          <a:bodyPr wrap="square" rtlCol="0"/>
          <a:lstStyle>
            <a:lvl1pPr algn="l" indent="0" marL="0">
              <a:buNone/>
              <a:defRPr lang="en-US" sz="3600" b="1" dirty="0">
                <a:solidFill>
                  <a:schemeClr val="bg2"/>
                </a:solidFill>
                <a:latin typeface="Inter" pitchFamily="34" charset="0"/>
                <a:ea typeface="Inter" pitchFamily="34" charset="-122"/>
                <a:cs typeface="Inter"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graphite">
    <p:bg>
      <p:bgPr>
        <a:solidFill>
          <a:schemeClr val="tx1"/>
        </a:solidFill>
      </p:bgPr>
    </p:bg>
    <p:spTree>
      <p:nvGrpSpPr>
        <p:cNvPr id="1" name=""/>
        <p:cNvGrpSpPr/>
        <p:nvPr/>
      </p:nvGrpSpPr>
      <p:grpSpPr>
        <a:xfrm>
          <a:off x="0" y="0"/>
          <a:ext cx="0" cy="0"/>
          <a:chOff x="0" y="0"/>
          <a:chExt cx="0" cy="0"/>
        </a:xfrm>
      </p:grpSpPr>
      <p:pic>
        <p:nvPicPr>
          <p:cNvPr id="2" name="Image 0" descr="/tmp/claude-0/-home-user-pilote-ia-professionnel-augmente/9293fe34-8df1-5707-a761-9a888430ae42/scratchpad/logo-brume.png">    </p:cNvPr>
          <p:cNvPicPr>
            <a:picLocks noChangeAspect="1"/>
          </p:cNvPicPr>
          <p:nvPr/>
        </p:nvPicPr>
        <p:blipFill>
          <a:blip r:embed="rId1"/>
          <a:stretch>
            <a:fillRect/>
          </a:stretch>
        </p:blipFill>
        <p:spPr>
          <a:xfrm>
            <a:off x="11228832" y="6199632"/>
            <a:ext cx="583415" cy="457200"/>
          </a:xfrm>
          <a:prstGeom prst="rect">
            <a:avLst/>
          </a:prstGeom>
        </p:spPr>
      </p:pic>
      <p:sp>
        <p:nvSpPr>
          <p:cNvPr id="3" name="Text 0"/>
          <p:cNvSpPr/>
          <p:nvPr>
            <p:ph idx="101" type="body" hasCustomPrompt="1"/>
          </p:nvPr>
        </p:nvSpPr>
        <p:spPr>
          <a:xfrm>
            <a:off x="548640" y="384048"/>
            <a:ext cx="8686800" cy="292608"/>
          </a:xfrm>
          <a:prstGeom prst="rect">
            <a:avLst/>
          </a:prstGeom>
          <a:noFill/>
          <a:ln/>
        </p:spPr>
        <p:txBody>
          <a:bodyPr wrap="square" rtlCol="0"/>
          <a:lstStyle>
            <a:lvl1pPr indent="0" marL="0">
              <a:buNone/>
              <a:defRPr lang="en-US" sz="1200" b="1" spc="200" kern="0" dirty="0">
                <a:solidFill>
                  <a:schemeClr val="accent2"/>
                </a:solidFill>
                <a:latin typeface="Inter" pitchFamily="34" charset="0"/>
                <a:ea typeface="Inter" pitchFamily="34" charset="-122"/>
                <a:cs typeface="Inter" pitchFamily="34" charset="-120"/>
              </a:defRPr>
            </a:lvl1pPr>
          </a:lstStyle>
          <a:p>
            <a:pPr indent="0" marL="0">
              <a:buNone/>
            </a:pPr>
            <a:endParaRPr lang="en-US" sz="1200" dirty="0"/>
          </a:p>
        </p:txBody>
      </p:sp>
      <p:sp>
        <p:nvSpPr>
          <p:cNvPr id="4" name="Text 0"/>
          <p:cNvSpPr/>
          <p:nvPr>
            <p:ph idx="102" type="title" hasCustomPrompt="1"/>
          </p:nvPr>
        </p:nvSpPr>
        <p:spPr>
          <a:xfrm>
            <a:off x="548640" y="694944"/>
            <a:ext cx="10515600" cy="731520"/>
          </a:xfrm>
          <a:prstGeom prst="rect">
            <a:avLst/>
          </a:prstGeom>
          <a:noFill/>
          <a:ln/>
        </p:spPr>
        <p:txBody>
          <a:bodyPr wrap="square" rtlCol="0"/>
          <a:lstStyle>
            <a:lvl1pPr algn="l" indent="0" marL="0">
              <a:buNone/>
              <a:defRPr lang="en-US" sz="3600" b="1" dirty="0">
                <a:solidFill>
                  <a:schemeClr val="bg2"/>
                </a:solidFill>
                <a:latin typeface="Inter" pitchFamily="34" charset="0"/>
                <a:ea typeface="Inter" pitchFamily="34" charset="-122"/>
                <a:cs typeface="Inter"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86868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Inter" pitchFamily="34" charset="0"/>
                <a:ea typeface="Inter" pitchFamily="34" charset="-122"/>
                <a:cs typeface="Inter" pitchFamily="34" charset="-120"/>
              </a:rPr>
              <a:t>TOUR DE TABLE · MISSION LOCALE DE SAINT-BRIEUC</a:t>
            </a:r>
            <a:endParaRPr lang="en-US" sz="1200" dirty="0"/>
          </a:p>
        </p:txBody>
      </p:sp>
      <p:sp>
        <p:nvSpPr>
          <p:cNvPr id="3" name="Text 0"/>
          <p:cNvSpPr/>
          <p:nvPr>
            <p:ph idx="102" type="title" hasCustomPrompt="1"/>
          </p:nvPr>
        </p:nvSpPr>
        <p:spPr>
          <a:xfrm>
            <a:off x="548640" y="694944"/>
            <a:ext cx="10515600" cy="731520"/>
          </a:xfrm>
          <a:prstGeom prst="rect">
            <a:avLst/>
          </a:prstGeom>
          <a:noFill/>
          <a:ln/>
        </p:spPr>
        <p:txBody>
          <a:bodyPr wrap="square" lIns="0" tIns="0" rIns="0" bIns="0" rtlCol="0" anchor="t"/>
          <a:lstStyle/>
          <a:p>
            <a:pPr algn="l" indent="0" marL="0">
              <a:buNone/>
            </a:pPr>
            <a:r>
              <a:rPr lang="en-US" sz="3600" b="1" dirty="0">
                <a:solidFill>
                  <a:schemeClr val="tx1"/>
                </a:solidFill>
                <a:latin typeface="Inter" pitchFamily="34" charset="0"/>
                <a:ea typeface="Inter" pitchFamily="34" charset="-122"/>
                <a:cs typeface="Inter" pitchFamily="34" charset="-120"/>
              </a:rPr>
              <a:t>Ce qu'ils font déjà avec l'IA</a:t>
            </a:r>
            <a:endParaRPr lang="en-US" sz="3600" dirty="0"/>
          </a:p>
        </p:txBody>
      </p:sp>
      <p:sp>
        <p:nvSpPr>
          <p:cNvPr id="5" name="stat-usages"/>
          <p:cNvSpPr txBox="1"/>
          <p:nvPr/>
        </p:nvSpPr>
        <p:spPr>
          <a:xfrm>
            <a:off x="548640" y="1600200"/>
            <a:ext cx="2377440" cy="960120"/>
          </a:xfrm>
          <a:prstGeom prst="rect">
            <a:avLst/>
          </a:prstGeom>
          <a:noFill/>
          <a:ln/>
        </p:spPr>
        <p:txBody>
          <a:bodyPr wrap="square" lIns="0" tIns="0" rIns="0" bIns="0" rtlCol="0" anchor="ctr"/>
          <a:lstStyle/>
          <a:p>
            <a:pPr indent="0" marL="0">
              <a:buNone/>
            </a:pPr>
            <a:r>
              <a:rPr lang="en-US" sz="7200" b="1" dirty="0">
                <a:solidFill>
                  <a:schemeClr val="accent1"/>
                </a:solidFill>
                <a:latin typeface="Inter" pitchFamily="34" charset="0"/>
                <a:ea typeface="Inter" pitchFamily="34" charset="-122"/>
                <a:cs typeface="Inter" pitchFamily="34" charset="-120"/>
              </a:rPr>
              <a:t>27</a:t>
            </a:r>
            <a:endParaRPr lang="en-US" sz="7200" dirty="0"/>
          </a:p>
        </p:txBody>
      </p:sp>
      <p:sp>
        <p:nvSpPr>
          <p:cNvPr id="6" name="Text 3"/>
          <p:cNvSpPr txBox="1"/>
          <p:nvPr/>
        </p:nvSpPr>
        <p:spPr>
          <a:xfrm>
            <a:off x="548640" y="2560320"/>
            <a:ext cx="2377440" cy="548640"/>
          </a:xfrm>
          <a:prstGeom prst="rect">
            <a:avLst/>
          </a:prstGeom>
          <a:noFill/>
          <a:ln/>
        </p:spPr>
        <p:txBody>
          <a:bodyPr wrap="square" lIns="0" tIns="0" rIns="0" bIns="0" rtlCol="0" anchor="ctr"/>
          <a:lstStyle/>
          <a:p>
            <a:pPr indent="0" marL="0">
              <a:buNone/>
            </a:pPr>
            <a:r>
              <a:rPr lang="en-US" sz="1400" dirty="0">
                <a:solidFill>
                  <a:schemeClr val="tx1"/>
                </a:solidFill>
              </a:rPr>
              <a:t>usages cités, répartis en 6 familles</a:t>
            </a:r>
            <a:endParaRPr lang="en-US" sz="1400" dirty="0"/>
          </a:p>
        </p:txBody>
      </p:sp>
      <p:sp>
        <p:nvSpPr>
          <p:cNvPr id="7" name="insight-top"/>
          <p:cNvSpPr/>
          <p:nvPr/>
        </p:nvSpPr>
        <p:spPr>
          <a:xfrm>
            <a:off x="548640" y="3337560"/>
            <a:ext cx="2377440" cy="1325880"/>
          </a:xfrm>
          <a:prstGeom prst="roundRect">
            <a:avLst>
              <a:gd name="adj" fmla="val 8276"/>
            </a:avLst>
          </a:prstGeom>
          <a:solidFill>
            <a:schemeClr val="tx2"/>
          </a:solidFill>
          <a:ln/>
        </p:spPr>
      </p:sp>
      <p:pic>
        <p:nvPicPr>
          <p:cNvPr id="8" name="Image 0" descr="preencoded.png">    </p:cNvPr>
          <p:cNvPicPr>
            <a:picLocks noChangeAspect="1"/>
          </p:cNvPicPr>
          <p:nvPr/>
        </p:nvPicPr>
        <p:blipFill>
          <a:blip r:embed="rId1"/>
          <a:stretch>
            <a:fillRect/>
          </a:stretch>
        </p:blipFill>
        <p:spPr>
          <a:xfrm>
            <a:off x="713232" y="3474720"/>
            <a:ext cx="329184" cy="329184"/>
          </a:xfrm>
          <a:prstGeom prst="rect">
            <a:avLst/>
          </a:prstGeom>
        </p:spPr>
      </p:pic>
      <p:sp>
        <p:nvSpPr>
          <p:cNvPr id="9" name="Text 5"/>
          <p:cNvSpPr txBox="1"/>
          <p:nvPr/>
        </p:nvSpPr>
        <p:spPr>
          <a:xfrm>
            <a:off x="1115568" y="3474720"/>
            <a:ext cx="1737360" cy="329184"/>
          </a:xfrm>
          <a:prstGeom prst="rect">
            <a:avLst/>
          </a:prstGeom>
          <a:noFill/>
          <a:ln/>
        </p:spPr>
        <p:txBody>
          <a:bodyPr wrap="square" lIns="0" tIns="0" rIns="0" bIns="0" rtlCol="0" anchor="ctr"/>
          <a:lstStyle/>
          <a:p>
            <a:pPr indent="0" marL="0">
              <a:buNone/>
            </a:pPr>
            <a:r>
              <a:rPr lang="en-US" sz="1100" b="1" spc="100" kern="0" dirty="0">
                <a:solidFill>
                  <a:schemeClr val="accent2"/>
                </a:solidFill>
              </a:rPr>
              <a:t>LE PLUS CITÉ</a:t>
            </a:r>
            <a:endParaRPr lang="en-US" sz="1100" dirty="0"/>
          </a:p>
        </p:txBody>
      </p:sp>
      <p:sp>
        <p:nvSpPr>
          <p:cNvPr id="10" name="Text 6"/>
          <p:cNvSpPr txBox="1"/>
          <p:nvPr/>
        </p:nvSpPr>
        <p:spPr>
          <a:xfrm>
            <a:off x="713232" y="3877056"/>
            <a:ext cx="2103120" cy="713232"/>
          </a:xfrm>
          <a:prstGeom prst="rect">
            <a:avLst/>
          </a:prstGeom>
          <a:noFill/>
          <a:ln/>
        </p:spPr>
        <p:txBody>
          <a:bodyPr wrap="square" lIns="0" tIns="0" rIns="0" bIns="0" rtlCol="0" anchor="t"/>
          <a:lstStyle/>
          <a:p>
            <a:pPr indent="0" marL="0">
              <a:buNone/>
            </a:pPr>
            <a:r>
              <a:rPr lang="en-US" sz="1300" dirty="0">
                <a:solidFill>
                  <a:schemeClr val="bg2"/>
                </a:solidFill>
              </a:rPr>
              <a:t>Planifier, organiser, trier : seul usage nommé deux fois</a:t>
            </a:r>
            <a:endParaRPr lang="en-US" sz="1300" dirty="0"/>
          </a:p>
        </p:txBody>
      </p:sp>
      <p:sp>
        <p:nvSpPr>
          <p:cNvPr id="11" name="insight-dys"/>
          <p:cNvSpPr/>
          <p:nvPr/>
        </p:nvSpPr>
        <p:spPr>
          <a:xfrm>
            <a:off x="548640" y="4846320"/>
            <a:ext cx="2377440" cy="1188720"/>
          </a:xfrm>
          <a:prstGeom prst="roundRect">
            <a:avLst>
              <a:gd name="adj" fmla="val 9231"/>
            </a:avLst>
          </a:prstGeom>
          <a:solidFill>
            <a:schemeClr val="accent6"/>
          </a:solidFill>
          <a:ln/>
        </p:spPr>
      </p:sp>
      <p:pic>
        <p:nvPicPr>
          <p:cNvPr id="12" name="Image 1" descr="preencoded.png">    </p:cNvPr>
          <p:cNvPicPr>
            <a:picLocks noChangeAspect="1"/>
          </p:cNvPicPr>
          <p:nvPr/>
        </p:nvPicPr>
        <p:blipFill>
          <a:blip r:embed="rId2"/>
          <a:stretch>
            <a:fillRect/>
          </a:stretch>
        </p:blipFill>
        <p:spPr>
          <a:xfrm>
            <a:off x="713232" y="4974336"/>
            <a:ext cx="329184" cy="329184"/>
          </a:xfrm>
          <a:prstGeom prst="rect">
            <a:avLst/>
          </a:prstGeom>
        </p:spPr>
      </p:pic>
      <p:sp>
        <p:nvSpPr>
          <p:cNvPr id="13" name="Text 8"/>
          <p:cNvSpPr txBox="1"/>
          <p:nvPr/>
        </p:nvSpPr>
        <p:spPr>
          <a:xfrm>
            <a:off x="1115568" y="4974336"/>
            <a:ext cx="1737360" cy="329184"/>
          </a:xfrm>
          <a:prstGeom prst="rect">
            <a:avLst/>
          </a:prstGeom>
          <a:noFill/>
          <a:ln/>
        </p:spPr>
        <p:txBody>
          <a:bodyPr wrap="square" lIns="0" tIns="0" rIns="0" bIns="0" rtlCol="0" anchor="ctr"/>
          <a:lstStyle/>
          <a:p>
            <a:pPr indent="0" marL="0">
              <a:buNone/>
            </a:pPr>
            <a:r>
              <a:rPr lang="en-US" sz="1100" b="1" spc="100" kern="0" dirty="0">
                <a:solidFill>
                  <a:schemeClr val="tx1"/>
                </a:solidFill>
              </a:rPr>
              <a:t>SIGNAL FORT</a:t>
            </a:r>
            <a:endParaRPr lang="en-US" sz="1100" dirty="0"/>
          </a:p>
        </p:txBody>
      </p:sp>
      <p:sp>
        <p:nvSpPr>
          <p:cNvPr id="14" name="Text 9"/>
          <p:cNvSpPr txBox="1"/>
          <p:nvPr/>
        </p:nvSpPr>
        <p:spPr>
          <a:xfrm>
            <a:off x="713232" y="5358384"/>
            <a:ext cx="2103120" cy="603504"/>
          </a:xfrm>
          <a:prstGeom prst="rect">
            <a:avLst/>
          </a:prstGeom>
          <a:noFill/>
          <a:ln/>
        </p:spPr>
        <p:txBody>
          <a:bodyPr wrap="square" lIns="0" tIns="0" rIns="0" bIns="0" rtlCol="0" anchor="t"/>
          <a:lstStyle/>
          <a:p>
            <a:pPr indent="0" marL="0">
              <a:buNone/>
            </a:pPr>
            <a:r>
              <a:rPr lang="en-US" sz="1300" dirty="0">
                <a:solidFill>
                  <a:schemeClr val="tx1"/>
                </a:solidFill>
              </a:rPr>
              <a:t>L'IA comme outil de compensation des troubles dys</a:t>
            </a:r>
            <a:endParaRPr lang="en-US" sz="1300" dirty="0"/>
          </a:p>
        </p:txBody>
      </p:sp>
      <p:sp>
        <p:nvSpPr>
          <p:cNvPr id="15" name="famille-1"/>
          <p:cNvSpPr/>
          <p:nvPr/>
        </p:nvSpPr>
        <p:spPr>
          <a:xfrm>
            <a:off x="3246120" y="1600200"/>
            <a:ext cx="2697480" cy="2148840"/>
          </a:xfrm>
          <a:prstGeom prst="roundRect">
            <a:avLst>
              <a:gd name="adj" fmla="val 5106"/>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16" name="Shape 11"/>
          <p:cNvSpPr/>
          <p:nvPr/>
        </p:nvSpPr>
        <p:spPr>
          <a:xfrm>
            <a:off x="3429000" y="1783080"/>
            <a:ext cx="457200" cy="457200"/>
          </a:xfrm>
          <a:prstGeom prst="ellipse">
            <a:avLst/>
          </a:prstGeom>
          <a:solidFill>
            <a:schemeClr val="bg1"/>
          </a:solidFill>
          <a:ln/>
        </p:spPr>
      </p:sp>
      <p:pic>
        <p:nvPicPr>
          <p:cNvPr id="17" name="Image 2" descr="preencoded.png">    </p:cNvPr>
          <p:cNvPicPr>
            <a:picLocks noChangeAspect="1"/>
          </p:cNvPicPr>
          <p:nvPr/>
        </p:nvPicPr>
        <p:blipFill>
          <a:blip r:embed="rId3"/>
          <a:stretch>
            <a:fillRect/>
          </a:stretch>
        </p:blipFill>
        <p:spPr>
          <a:xfrm>
            <a:off x="3520440" y="1874520"/>
            <a:ext cx="274320" cy="274320"/>
          </a:xfrm>
          <a:prstGeom prst="rect">
            <a:avLst/>
          </a:prstGeom>
        </p:spPr>
      </p:pic>
      <p:sp>
        <p:nvSpPr>
          <p:cNvPr id="18" name="Shape 12"/>
          <p:cNvSpPr/>
          <p:nvPr/>
        </p:nvSpPr>
        <p:spPr>
          <a:xfrm>
            <a:off x="5285232" y="1819656"/>
            <a:ext cx="475488" cy="384048"/>
          </a:xfrm>
          <a:prstGeom prst="roundRect">
            <a:avLst>
              <a:gd name="adj" fmla="val 23810"/>
            </a:avLst>
          </a:prstGeom>
          <a:solidFill>
            <a:schemeClr val="accent2"/>
          </a:solidFill>
          <a:ln/>
        </p:spPr>
      </p:sp>
      <p:sp>
        <p:nvSpPr>
          <p:cNvPr id="19" name="Text 13"/>
          <p:cNvSpPr txBox="1"/>
          <p:nvPr/>
        </p:nvSpPr>
        <p:spPr>
          <a:xfrm>
            <a:off x="5285232" y="181965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0" name="Text 14"/>
          <p:cNvSpPr txBox="1"/>
          <p:nvPr/>
        </p:nvSpPr>
        <p:spPr>
          <a:xfrm>
            <a:off x="3995928" y="1783080"/>
            <a:ext cx="1234440" cy="457200"/>
          </a:xfrm>
          <a:prstGeom prst="rect">
            <a:avLst/>
          </a:prstGeom>
          <a:noFill/>
          <a:ln/>
        </p:spPr>
        <p:txBody>
          <a:bodyPr wrap="square" lIns="0" tIns="0" rIns="0" bIns="0" rtlCol="0" anchor="ctr"/>
          <a:lstStyle/>
          <a:p>
            <a:pPr indent="0" marL="0">
              <a:buNone/>
            </a:pPr>
            <a:r>
              <a:rPr lang="en-US" sz="1400" b="1" dirty="0">
                <a:solidFill>
                  <a:schemeClr val="bg1"/>
                </a:solidFill>
              </a:rPr>
              <a:t>Organiser &amp; planifier</a:t>
            </a:r>
            <a:endParaRPr lang="en-US" sz="1400" dirty="0"/>
          </a:p>
        </p:txBody>
      </p:sp>
      <p:sp>
        <p:nvSpPr>
          <p:cNvPr id="21" name="Text 15"/>
          <p:cNvSpPr txBox="1"/>
          <p:nvPr/>
        </p:nvSpPr>
        <p:spPr>
          <a:xfrm>
            <a:off x="3429000" y="237744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Planifier (cité 2 fois)</a:t>
            </a:r>
            <a:endParaRPr lang="en-US" sz="1200" dirty="0"/>
          </a:p>
          <a:p>
            <a:pPr marL="152400" indent="-152400">
              <a:spcAft>
                <a:spcPts val="300"/>
              </a:spcAft>
              <a:buSzPct val="100000"/>
              <a:buChar char="•"/>
            </a:pPr>
            <a:r>
              <a:rPr lang="en-US" sz="1200" dirty="0">
                <a:solidFill>
                  <a:schemeClr val="bg1"/>
                </a:solidFill>
              </a:rPr>
              <a:t>Organiser</a:t>
            </a:r>
            <a:endParaRPr lang="en-US" sz="1200" dirty="0"/>
          </a:p>
          <a:p>
            <a:pPr marL="152400" indent="-152400">
              <a:spcAft>
                <a:spcPts val="300"/>
              </a:spcAft>
              <a:buSzPct val="100000"/>
              <a:buChar char="•"/>
            </a:pPr>
            <a:r>
              <a:rPr lang="en-US" sz="1200" dirty="0">
                <a:solidFill>
                  <a:schemeClr val="bg1"/>
                </a:solidFill>
              </a:rPr>
              <a:t>Trier ses emails</a:t>
            </a:r>
            <a:endParaRPr lang="en-US" sz="1200" dirty="0"/>
          </a:p>
          <a:p>
            <a:pPr marL="152400" indent="-152400">
              <a:spcAft>
                <a:spcPts val="300"/>
              </a:spcAft>
              <a:buSzPct val="100000"/>
              <a:buChar char="•"/>
            </a:pPr>
            <a:r>
              <a:rPr lang="en-US" sz="1200" dirty="0">
                <a:solidFill>
                  <a:schemeClr val="bg1"/>
                </a:solidFill>
              </a:rPr>
              <a:t>Trier des idées en vrac</a:t>
            </a:r>
            <a:endParaRPr lang="en-US" sz="1200" dirty="0"/>
          </a:p>
          <a:p>
            <a:pPr marL="152400" indent="-152400">
              <a:spcAft>
                <a:spcPts val="300"/>
              </a:spcAft>
              <a:buSzPct val="100000"/>
              <a:buChar char="•"/>
            </a:pPr>
            <a:r>
              <a:rPr lang="en-US" sz="1200" dirty="0">
                <a:solidFill>
                  <a:schemeClr val="bg1"/>
                </a:solidFill>
              </a:rPr>
              <a:t>Organiser ses idées</a:t>
            </a:r>
            <a:endParaRPr lang="en-US" sz="1200" dirty="0"/>
          </a:p>
        </p:txBody>
      </p:sp>
      <p:sp>
        <p:nvSpPr>
          <p:cNvPr id="22" name="famille-2"/>
          <p:cNvSpPr/>
          <p:nvPr/>
        </p:nvSpPr>
        <p:spPr>
          <a:xfrm>
            <a:off x="6217920" y="1600200"/>
            <a:ext cx="2697480" cy="2148840"/>
          </a:xfrm>
          <a:prstGeom prst="roundRect">
            <a:avLst>
              <a:gd name="adj" fmla="val 5106"/>
            </a:avLst>
          </a:prstGeom>
          <a:solidFill>
            <a:schemeClr val="bg1"/>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23" name="Shape 17"/>
          <p:cNvSpPr/>
          <p:nvPr/>
        </p:nvSpPr>
        <p:spPr>
          <a:xfrm>
            <a:off x="6400800" y="1783080"/>
            <a:ext cx="457200" cy="457200"/>
          </a:xfrm>
          <a:prstGeom prst="ellipse">
            <a:avLst/>
          </a:prstGeom>
          <a:solidFill>
            <a:schemeClr val="accent5"/>
          </a:solidFill>
          <a:ln/>
        </p:spPr>
      </p:sp>
      <p:pic>
        <p:nvPicPr>
          <p:cNvPr id="24" name="Image 3" descr="preencoded.png">    </p:cNvPr>
          <p:cNvPicPr>
            <a:picLocks noChangeAspect="1"/>
          </p:cNvPicPr>
          <p:nvPr/>
        </p:nvPicPr>
        <p:blipFill>
          <a:blip r:embed="rId4"/>
          <a:stretch>
            <a:fillRect/>
          </a:stretch>
        </p:blipFill>
        <p:spPr>
          <a:xfrm>
            <a:off x="6492240" y="1874520"/>
            <a:ext cx="274320" cy="274320"/>
          </a:xfrm>
          <a:prstGeom prst="rect">
            <a:avLst/>
          </a:prstGeom>
        </p:spPr>
      </p:pic>
      <p:sp>
        <p:nvSpPr>
          <p:cNvPr id="25" name="Shape 18"/>
          <p:cNvSpPr/>
          <p:nvPr/>
        </p:nvSpPr>
        <p:spPr>
          <a:xfrm>
            <a:off x="8257032" y="1819656"/>
            <a:ext cx="475488" cy="384048"/>
          </a:xfrm>
          <a:prstGeom prst="roundRect">
            <a:avLst>
              <a:gd name="adj" fmla="val 23810"/>
            </a:avLst>
          </a:prstGeom>
          <a:solidFill>
            <a:schemeClr val="accent6"/>
          </a:solidFill>
          <a:ln/>
        </p:spPr>
      </p:sp>
      <p:sp>
        <p:nvSpPr>
          <p:cNvPr id="26" name="Text 19"/>
          <p:cNvSpPr txBox="1"/>
          <p:nvPr/>
        </p:nvSpPr>
        <p:spPr>
          <a:xfrm>
            <a:off x="8257032" y="181965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7" name="Text 20"/>
          <p:cNvSpPr txBox="1"/>
          <p:nvPr/>
        </p:nvSpPr>
        <p:spPr>
          <a:xfrm>
            <a:off x="6967728" y="1783080"/>
            <a:ext cx="1234440" cy="457200"/>
          </a:xfrm>
          <a:prstGeom prst="rect">
            <a:avLst/>
          </a:prstGeom>
          <a:noFill/>
          <a:ln/>
        </p:spPr>
        <p:txBody>
          <a:bodyPr wrap="square" lIns="0" tIns="0" rIns="0" bIns="0" rtlCol="0" anchor="ctr"/>
          <a:lstStyle/>
          <a:p>
            <a:pPr indent="0" marL="0">
              <a:buNone/>
            </a:pPr>
            <a:r>
              <a:rPr lang="en-US" sz="1400" b="1" dirty="0">
                <a:solidFill>
                  <a:schemeClr val="tx1"/>
                </a:solidFill>
              </a:rPr>
              <a:t>Écrire &amp; corriger</a:t>
            </a:r>
            <a:endParaRPr lang="en-US" sz="1400" dirty="0"/>
          </a:p>
        </p:txBody>
      </p:sp>
      <p:sp>
        <p:nvSpPr>
          <p:cNvPr id="28" name="Text 21"/>
          <p:cNvSpPr txBox="1"/>
          <p:nvPr/>
        </p:nvSpPr>
        <p:spPr>
          <a:xfrm>
            <a:off x="6400800" y="237744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Correction, reformulation</a:t>
            </a:r>
            <a:endParaRPr lang="en-US" sz="1200" dirty="0"/>
          </a:p>
          <a:p>
            <a:pPr marL="152400" indent="-152400">
              <a:spcAft>
                <a:spcPts val="300"/>
              </a:spcAft>
              <a:buSzPct val="100000"/>
              <a:buChar char="•"/>
            </a:pPr>
            <a:r>
              <a:rPr lang="en-US" sz="1200" dirty="0">
                <a:solidFill>
                  <a:schemeClr val="tx1"/>
                </a:solidFill>
              </a:rPr>
              <a:t>CV, lettre de motivation ciblée</a:t>
            </a:r>
            <a:endParaRPr lang="en-US" sz="1200" dirty="0"/>
          </a:p>
          <a:p>
            <a:pPr marL="152400" indent="-152400">
              <a:spcAft>
                <a:spcPts val="300"/>
              </a:spcAft>
              <a:buSzPct val="100000"/>
              <a:buChar char="•"/>
            </a:pPr>
            <a:r>
              <a:rPr lang="en-US" sz="1200" dirty="0">
                <a:solidFill>
                  <a:schemeClr val="tx1"/>
                </a:solidFill>
              </a:rPr>
              <a:t>Mise en forme</a:t>
            </a:r>
            <a:endParaRPr lang="en-US" sz="1200" dirty="0"/>
          </a:p>
          <a:p>
            <a:pPr marL="152400" indent="-152400">
              <a:spcAft>
                <a:spcPts val="300"/>
              </a:spcAft>
              <a:buSzPct val="100000"/>
              <a:buChar char="•"/>
            </a:pPr>
            <a:r>
              <a:rPr lang="en-US" sz="1200" dirty="0">
                <a:solidFill>
                  <a:schemeClr val="tx1"/>
                </a:solidFill>
              </a:rPr>
              <a:t>Traduire du texte</a:t>
            </a:r>
            <a:endParaRPr lang="en-US" sz="1200" dirty="0"/>
          </a:p>
          <a:p>
            <a:pPr marL="152400" indent="-152400">
              <a:spcAft>
                <a:spcPts val="300"/>
              </a:spcAft>
              <a:buSzPct val="100000"/>
              <a:buChar char="•"/>
            </a:pPr>
            <a:r>
              <a:rPr lang="en-US" sz="1200" dirty="0">
                <a:solidFill>
                  <a:schemeClr val="tx1"/>
                </a:solidFill>
              </a:rPr>
              <a:t>Compenser un trouble dys</a:t>
            </a:r>
            <a:endParaRPr lang="en-US" sz="1200" dirty="0"/>
          </a:p>
        </p:txBody>
      </p:sp>
      <p:sp>
        <p:nvSpPr>
          <p:cNvPr id="29" name="famille-3"/>
          <p:cNvSpPr/>
          <p:nvPr/>
        </p:nvSpPr>
        <p:spPr>
          <a:xfrm>
            <a:off x="9189720" y="1600200"/>
            <a:ext cx="2697480" cy="2148840"/>
          </a:xfrm>
          <a:prstGeom prst="roundRect">
            <a:avLst>
              <a:gd name="adj" fmla="val 5106"/>
            </a:avLst>
          </a:prstGeom>
          <a:solidFill>
            <a:schemeClr val="bg1"/>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9372600" y="1783080"/>
            <a:ext cx="457200" cy="457200"/>
          </a:xfrm>
          <a:prstGeom prst="ellipse">
            <a:avLst/>
          </a:prstGeom>
          <a:solidFill>
            <a:schemeClr val="accent5"/>
          </a:solidFill>
          <a:ln/>
        </p:spPr>
      </p:sp>
      <p:pic>
        <p:nvPicPr>
          <p:cNvPr id="31" name="Image 4" descr="preencoded.png">    </p:cNvPr>
          <p:cNvPicPr>
            <a:picLocks noChangeAspect="1"/>
          </p:cNvPicPr>
          <p:nvPr/>
        </p:nvPicPr>
        <p:blipFill>
          <a:blip r:embed="rId5"/>
          <a:stretch>
            <a:fillRect/>
          </a:stretch>
        </p:blipFill>
        <p:spPr>
          <a:xfrm>
            <a:off x="9464040" y="1874520"/>
            <a:ext cx="274320" cy="274320"/>
          </a:xfrm>
          <a:prstGeom prst="rect">
            <a:avLst/>
          </a:prstGeom>
        </p:spPr>
      </p:pic>
      <p:sp>
        <p:nvSpPr>
          <p:cNvPr id="32" name="Shape 24"/>
          <p:cNvSpPr/>
          <p:nvPr/>
        </p:nvSpPr>
        <p:spPr>
          <a:xfrm>
            <a:off x="11228832" y="1819656"/>
            <a:ext cx="475488" cy="384048"/>
          </a:xfrm>
          <a:prstGeom prst="roundRect">
            <a:avLst>
              <a:gd name="adj" fmla="val 23810"/>
            </a:avLst>
          </a:prstGeom>
          <a:solidFill>
            <a:schemeClr val="accent6"/>
          </a:solidFill>
          <a:ln/>
        </p:spPr>
      </p:sp>
      <p:sp>
        <p:nvSpPr>
          <p:cNvPr id="33" name="Text 25"/>
          <p:cNvSpPr txBox="1"/>
          <p:nvPr/>
        </p:nvSpPr>
        <p:spPr>
          <a:xfrm>
            <a:off x="11228832" y="181965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4" name="Text 26"/>
          <p:cNvSpPr txBox="1"/>
          <p:nvPr/>
        </p:nvSpPr>
        <p:spPr>
          <a:xfrm>
            <a:off x="9939528" y="1783080"/>
            <a:ext cx="1234440" cy="457200"/>
          </a:xfrm>
          <a:prstGeom prst="rect">
            <a:avLst/>
          </a:prstGeom>
          <a:noFill/>
          <a:ln/>
        </p:spPr>
        <p:txBody>
          <a:bodyPr wrap="square" lIns="0" tIns="0" rIns="0" bIns="0" rtlCol="0" anchor="ctr"/>
          <a:lstStyle/>
          <a:p>
            <a:pPr indent="0" marL="0">
              <a:buNone/>
            </a:pPr>
            <a:r>
              <a:rPr lang="en-US" sz="1400" b="1" dirty="0">
                <a:solidFill>
                  <a:schemeClr val="tx1"/>
                </a:solidFill>
              </a:rPr>
              <a:t>Synthétiser &amp; transcrire</a:t>
            </a:r>
            <a:endParaRPr lang="en-US" sz="1400" dirty="0"/>
          </a:p>
        </p:txBody>
      </p:sp>
      <p:sp>
        <p:nvSpPr>
          <p:cNvPr id="35" name="Text 27"/>
          <p:cNvSpPr txBox="1"/>
          <p:nvPr/>
        </p:nvSpPr>
        <p:spPr>
          <a:xfrm>
            <a:off x="9372600" y="237744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Compte rendu de visio</a:t>
            </a:r>
            <a:endParaRPr lang="en-US" sz="1200" dirty="0"/>
          </a:p>
          <a:p>
            <a:pPr marL="152400" indent="-152400">
              <a:spcAft>
                <a:spcPts val="300"/>
              </a:spcAft>
              <a:buSzPct val="100000"/>
              <a:buChar char="•"/>
            </a:pPr>
            <a:r>
              <a:rPr lang="en-US" sz="1200" dirty="0">
                <a:solidFill>
                  <a:schemeClr val="tx1"/>
                </a:solidFill>
              </a:rPr>
              <a:t>Retranscription</a:t>
            </a:r>
            <a:endParaRPr lang="en-US" sz="1200" dirty="0"/>
          </a:p>
          <a:p>
            <a:pPr marL="152400" indent="-152400">
              <a:spcAft>
                <a:spcPts val="300"/>
              </a:spcAft>
              <a:buSzPct val="100000"/>
              <a:buChar char="•"/>
            </a:pPr>
            <a:r>
              <a:rPr lang="en-US" sz="1200" dirty="0">
                <a:solidFill>
                  <a:schemeClr val="tx1"/>
                </a:solidFill>
              </a:rPr>
              <a:t>Rapport d'interview</a:t>
            </a:r>
            <a:endParaRPr lang="en-US" sz="1200" dirty="0"/>
          </a:p>
          <a:p>
            <a:pPr marL="152400" indent="-152400">
              <a:spcAft>
                <a:spcPts val="300"/>
              </a:spcAft>
              <a:buSzPct val="100000"/>
              <a:buChar char="•"/>
            </a:pPr>
            <a:r>
              <a:rPr lang="en-US" sz="1200" dirty="0">
                <a:solidFill>
                  <a:schemeClr val="tx1"/>
                </a:solidFill>
              </a:rPr>
              <a:t>Image (affiche) vers texte</a:t>
            </a:r>
            <a:endParaRPr lang="en-US" sz="1200" dirty="0"/>
          </a:p>
          <a:p>
            <a:pPr marL="152400" indent="-152400">
              <a:spcAft>
                <a:spcPts val="300"/>
              </a:spcAft>
              <a:buSzPct val="100000"/>
              <a:buChar char="•"/>
            </a:pPr>
            <a:r>
              <a:rPr lang="en-US" sz="1200" dirty="0">
                <a:solidFill>
                  <a:schemeClr val="tx1"/>
                </a:solidFill>
              </a:rPr>
              <a:t>Questionnaire</a:t>
            </a:r>
            <a:endParaRPr lang="en-US" sz="1200" dirty="0"/>
          </a:p>
        </p:txBody>
      </p:sp>
      <p:sp>
        <p:nvSpPr>
          <p:cNvPr id="36" name="famille-4"/>
          <p:cNvSpPr/>
          <p:nvPr/>
        </p:nvSpPr>
        <p:spPr>
          <a:xfrm>
            <a:off x="3246120" y="3931920"/>
            <a:ext cx="2697480" cy="2148840"/>
          </a:xfrm>
          <a:prstGeom prst="roundRect">
            <a:avLst>
              <a:gd name="adj" fmla="val 5106"/>
            </a:avLst>
          </a:prstGeom>
          <a:solidFill>
            <a:schemeClr val="bg1"/>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37" name="Shape 29"/>
          <p:cNvSpPr/>
          <p:nvPr/>
        </p:nvSpPr>
        <p:spPr>
          <a:xfrm>
            <a:off x="3429000" y="4114800"/>
            <a:ext cx="457200" cy="457200"/>
          </a:xfrm>
          <a:prstGeom prst="ellipse">
            <a:avLst/>
          </a:prstGeom>
          <a:solidFill>
            <a:schemeClr val="accent5"/>
          </a:solidFill>
          <a:ln/>
        </p:spPr>
      </p:sp>
      <p:pic>
        <p:nvPicPr>
          <p:cNvPr id="38" name="Image 5" descr="preencoded.png">    </p:cNvPr>
          <p:cNvPicPr>
            <a:picLocks noChangeAspect="1"/>
          </p:cNvPicPr>
          <p:nvPr/>
        </p:nvPicPr>
        <p:blipFill>
          <a:blip r:embed="rId6"/>
          <a:stretch>
            <a:fillRect/>
          </a:stretch>
        </p:blipFill>
        <p:spPr>
          <a:xfrm>
            <a:off x="3520440" y="4206240"/>
            <a:ext cx="274320" cy="274320"/>
          </a:xfrm>
          <a:prstGeom prst="rect">
            <a:avLst/>
          </a:prstGeom>
        </p:spPr>
      </p:pic>
      <p:sp>
        <p:nvSpPr>
          <p:cNvPr id="39" name="Shape 30"/>
          <p:cNvSpPr/>
          <p:nvPr/>
        </p:nvSpPr>
        <p:spPr>
          <a:xfrm>
            <a:off x="5285232" y="4151376"/>
            <a:ext cx="475488" cy="384048"/>
          </a:xfrm>
          <a:prstGeom prst="roundRect">
            <a:avLst>
              <a:gd name="adj" fmla="val 23810"/>
            </a:avLst>
          </a:prstGeom>
          <a:solidFill>
            <a:schemeClr val="accent6"/>
          </a:solidFill>
          <a:ln/>
        </p:spPr>
      </p:sp>
      <p:sp>
        <p:nvSpPr>
          <p:cNvPr id="40" name="Text 31"/>
          <p:cNvSpPr txBox="1"/>
          <p:nvPr/>
        </p:nvSpPr>
        <p:spPr>
          <a:xfrm>
            <a:off x="5285232" y="415137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41" name="Text 32"/>
          <p:cNvSpPr txBox="1"/>
          <p:nvPr/>
        </p:nvSpPr>
        <p:spPr>
          <a:xfrm>
            <a:off x="3995928" y="4114800"/>
            <a:ext cx="1234440" cy="457200"/>
          </a:xfrm>
          <a:prstGeom prst="rect">
            <a:avLst/>
          </a:prstGeom>
          <a:noFill/>
          <a:ln/>
        </p:spPr>
        <p:txBody>
          <a:bodyPr wrap="square" lIns="0" tIns="0" rIns="0" bIns="0" rtlCol="0" anchor="ctr"/>
          <a:lstStyle/>
          <a:p>
            <a:pPr indent="0" marL="0">
              <a:buNone/>
            </a:pPr>
            <a:r>
              <a:rPr lang="en-US" sz="1400" b="1" dirty="0">
                <a:solidFill>
                  <a:schemeClr val="tx1"/>
                </a:solidFill>
              </a:rPr>
              <a:t>Créer &amp; visualiser</a:t>
            </a:r>
            <a:endParaRPr lang="en-US" sz="1400" dirty="0"/>
          </a:p>
        </p:txBody>
      </p:sp>
      <p:sp>
        <p:nvSpPr>
          <p:cNvPr id="42" name="Text 33"/>
          <p:cNvSpPr txBox="1"/>
          <p:nvPr/>
        </p:nvSpPr>
        <p:spPr>
          <a:xfrm>
            <a:off x="3429000" y="470916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Génération d'images</a:t>
            </a:r>
            <a:endParaRPr lang="en-US" sz="1200" dirty="0"/>
          </a:p>
          <a:p>
            <a:pPr marL="152400" indent="-152400">
              <a:spcAft>
                <a:spcPts val="300"/>
              </a:spcAft>
              <a:buSzPct val="100000"/>
              <a:buChar char="•"/>
            </a:pPr>
            <a:r>
              <a:rPr lang="en-US" sz="1200" dirty="0">
                <a:solidFill>
                  <a:schemeClr val="tx1"/>
                </a:solidFill>
              </a:rPr>
              <a:t>Traduire des idées en images</a:t>
            </a:r>
            <a:endParaRPr lang="en-US" sz="1200" dirty="0"/>
          </a:p>
          <a:p>
            <a:pPr marL="152400" indent="-152400">
              <a:spcAft>
                <a:spcPts val="300"/>
              </a:spcAft>
              <a:buSzPct val="100000"/>
              <a:buChar char="•"/>
            </a:pPr>
            <a:r>
              <a:rPr lang="en-US" sz="1200" dirty="0">
                <a:solidFill>
                  <a:schemeClr val="tx1"/>
                </a:solidFill>
              </a:rPr>
              <a:t>Présentation PPTX</a:t>
            </a:r>
            <a:endParaRPr lang="en-US" sz="1200" dirty="0"/>
          </a:p>
          <a:p>
            <a:pPr marL="152400" indent="-152400">
              <a:spcAft>
                <a:spcPts val="300"/>
              </a:spcAft>
              <a:buSzPct val="100000"/>
              <a:buChar char="•"/>
            </a:pPr>
            <a:r>
              <a:rPr lang="en-US" sz="1200" dirty="0">
                <a:solidFill>
                  <a:schemeClr val="tx1"/>
                </a:solidFill>
              </a:rPr>
              <a:t>Home staging</a:t>
            </a:r>
            <a:endParaRPr lang="en-US" sz="1200" dirty="0"/>
          </a:p>
          <a:p>
            <a:pPr marL="152400" indent="-152400">
              <a:spcAft>
                <a:spcPts val="300"/>
              </a:spcAft>
              <a:buSzPct val="100000"/>
              <a:buChar char="•"/>
            </a:pPr>
            <a:r>
              <a:rPr lang="en-US" sz="1200" dirty="0">
                <a:solidFill>
                  <a:schemeClr val="tx1"/>
                </a:solidFill>
              </a:rPr>
              <a:t>Plans (architecte)</a:t>
            </a:r>
            <a:endParaRPr lang="en-US" sz="1200" dirty="0"/>
          </a:p>
        </p:txBody>
      </p:sp>
      <p:sp>
        <p:nvSpPr>
          <p:cNvPr id="43" name="famille-5"/>
          <p:cNvSpPr/>
          <p:nvPr/>
        </p:nvSpPr>
        <p:spPr>
          <a:xfrm>
            <a:off x="6217920" y="3931920"/>
            <a:ext cx="2697480" cy="2148840"/>
          </a:xfrm>
          <a:prstGeom prst="roundRect">
            <a:avLst>
              <a:gd name="adj" fmla="val 5106"/>
            </a:avLst>
          </a:prstGeom>
          <a:solidFill>
            <a:schemeClr val="bg1"/>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44" name="Shape 35"/>
          <p:cNvSpPr/>
          <p:nvPr/>
        </p:nvSpPr>
        <p:spPr>
          <a:xfrm>
            <a:off x="6400800" y="4114800"/>
            <a:ext cx="457200" cy="457200"/>
          </a:xfrm>
          <a:prstGeom prst="ellipse">
            <a:avLst/>
          </a:prstGeom>
          <a:solidFill>
            <a:schemeClr val="accent5"/>
          </a:solidFill>
          <a:ln/>
        </p:spPr>
      </p:sp>
      <p:pic>
        <p:nvPicPr>
          <p:cNvPr id="45" name="Image 6" descr="preencoded.png">    </p:cNvPr>
          <p:cNvPicPr>
            <a:picLocks noChangeAspect="1"/>
          </p:cNvPicPr>
          <p:nvPr/>
        </p:nvPicPr>
        <p:blipFill>
          <a:blip r:embed="rId7"/>
          <a:stretch>
            <a:fillRect/>
          </a:stretch>
        </p:blipFill>
        <p:spPr>
          <a:xfrm>
            <a:off x="6492240" y="4206240"/>
            <a:ext cx="274320" cy="274320"/>
          </a:xfrm>
          <a:prstGeom prst="rect">
            <a:avLst/>
          </a:prstGeom>
        </p:spPr>
      </p:pic>
      <p:sp>
        <p:nvSpPr>
          <p:cNvPr id="46" name="Shape 36"/>
          <p:cNvSpPr/>
          <p:nvPr/>
        </p:nvSpPr>
        <p:spPr>
          <a:xfrm>
            <a:off x="8257032" y="4151376"/>
            <a:ext cx="475488" cy="384048"/>
          </a:xfrm>
          <a:prstGeom prst="roundRect">
            <a:avLst>
              <a:gd name="adj" fmla="val 23810"/>
            </a:avLst>
          </a:prstGeom>
          <a:solidFill>
            <a:schemeClr val="accent6"/>
          </a:solidFill>
          <a:ln/>
        </p:spPr>
      </p:sp>
      <p:sp>
        <p:nvSpPr>
          <p:cNvPr id="47" name="Text 37"/>
          <p:cNvSpPr txBox="1"/>
          <p:nvPr/>
        </p:nvSpPr>
        <p:spPr>
          <a:xfrm>
            <a:off x="8257032" y="415137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48" name="Text 38"/>
          <p:cNvSpPr txBox="1"/>
          <p:nvPr/>
        </p:nvSpPr>
        <p:spPr>
          <a:xfrm>
            <a:off x="6967728" y="4114800"/>
            <a:ext cx="1234440" cy="457200"/>
          </a:xfrm>
          <a:prstGeom prst="rect">
            <a:avLst/>
          </a:prstGeom>
          <a:noFill/>
          <a:ln/>
        </p:spPr>
        <p:txBody>
          <a:bodyPr wrap="square" lIns="0" tIns="0" rIns="0" bIns="0" rtlCol="0" anchor="ctr"/>
          <a:lstStyle/>
          <a:p>
            <a:pPr indent="0" marL="0">
              <a:buNone/>
            </a:pPr>
            <a:r>
              <a:rPr lang="en-US" sz="1400" b="1" dirty="0">
                <a:solidFill>
                  <a:schemeClr val="tx1"/>
                </a:solidFill>
              </a:rPr>
              <a:t>Réfléchir &amp; décider</a:t>
            </a:r>
            <a:endParaRPr lang="en-US" sz="1400" dirty="0"/>
          </a:p>
        </p:txBody>
      </p:sp>
      <p:sp>
        <p:nvSpPr>
          <p:cNvPr id="49" name="Text 39"/>
          <p:cNvSpPr txBox="1"/>
          <p:nvPr/>
        </p:nvSpPr>
        <p:spPr>
          <a:xfrm>
            <a:off x="6400800" y="470916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Chercher des idées</a:t>
            </a:r>
            <a:endParaRPr lang="en-US" sz="1200" dirty="0"/>
          </a:p>
          <a:p>
            <a:pPr marL="152400" indent="-152400">
              <a:spcAft>
                <a:spcPts val="300"/>
              </a:spcAft>
              <a:buSzPct val="100000"/>
              <a:buChar char="•"/>
            </a:pPr>
            <a:r>
              <a:rPr lang="en-US" sz="1200" dirty="0">
                <a:solidFill>
                  <a:schemeClr val="tx1"/>
                </a:solidFill>
              </a:rPr>
              <a:t>Argumenter</a:t>
            </a:r>
            <a:endParaRPr lang="en-US" sz="1200" dirty="0"/>
          </a:p>
          <a:p>
            <a:pPr marL="152400" indent="-152400">
              <a:spcAft>
                <a:spcPts val="300"/>
              </a:spcAft>
              <a:buSzPct val="100000"/>
              <a:buChar char="•"/>
            </a:pPr>
            <a:r>
              <a:rPr lang="en-US" sz="1200" dirty="0">
                <a:solidFill>
                  <a:schemeClr val="tx1"/>
                </a:solidFill>
              </a:rPr>
              <a:t>Aide à la décision, arbitrage</a:t>
            </a:r>
            <a:endParaRPr lang="en-US" sz="1200" dirty="0"/>
          </a:p>
          <a:p>
            <a:pPr marL="152400" indent="-152400">
              <a:spcAft>
                <a:spcPts val="300"/>
              </a:spcAft>
              <a:buSzPct val="100000"/>
              <a:buChar char="•"/>
            </a:pPr>
            <a:r>
              <a:rPr lang="en-US" sz="1200" dirty="0">
                <a:solidFill>
                  <a:schemeClr val="tx1"/>
                </a:solidFill>
              </a:rPr>
              <a:t>Calculer, faire un devis</a:t>
            </a:r>
            <a:endParaRPr lang="en-US" sz="1200" dirty="0"/>
          </a:p>
        </p:txBody>
      </p:sp>
      <p:sp>
        <p:nvSpPr>
          <p:cNvPr id="50" name="famille-6"/>
          <p:cNvSpPr/>
          <p:nvPr/>
        </p:nvSpPr>
        <p:spPr>
          <a:xfrm>
            <a:off x="9189720" y="3931920"/>
            <a:ext cx="2697480" cy="2148840"/>
          </a:xfrm>
          <a:prstGeom prst="roundRect">
            <a:avLst>
              <a:gd name="adj" fmla="val 5106"/>
            </a:avLst>
          </a:prstGeom>
          <a:solidFill>
            <a:schemeClr val="bg1"/>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51" name="Shape 41"/>
          <p:cNvSpPr/>
          <p:nvPr/>
        </p:nvSpPr>
        <p:spPr>
          <a:xfrm>
            <a:off x="9372600" y="4114800"/>
            <a:ext cx="457200" cy="457200"/>
          </a:xfrm>
          <a:prstGeom prst="ellipse">
            <a:avLst/>
          </a:prstGeom>
          <a:solidFill>
            <a:schemeClr val="accent5"/>
          </a:solidFill>
          <a:ln/>
        </p:spPr>
      </p:sp>
      <p:pic>
        <p:nvPicPr>
          <p:cNvPr id="52" name="Image 7" descr="preencoded.png">    </p:cNvPr>
          <p:cNvPicPr>
            <a:picLocks noChangeAspect="1"/>
          </p:cNvPicPr>
          <p:nvPr/>
        </p:nvPicPr>
        <p:blipFill>
          <a:blip r:embed="rId8"/>
          <a:stretch>
            <a:fillRect/>
          </a:stretch>
        </p:blipFill>
        <p:spPr>
          <a:xfrm>
            <a:off x="9464040" y="4206240"/>
            <a:ext cx="274320" cy="274320"/>
          </a:xfrm>
          <a:prstGeom prst="rect">
            <a:avLst/>
          </a:prstGeom>
        </p:spPr>
      </p:pic>
      <p:sp>
        <p:nvSpPr>
          <p:cNvPr id="53" name="Shape 42"/>
          <p:cNvSpPr/>
          <p:nvPr/>
        </p:nvSpPr>
        <p:spPr>
          <a:xfrm>
            <a:off x="11228832" y="4151376"/>
            <a:ext cx="475488" cy="384048"/>
          </a:xfrm>
          <a:prstGeom prst="roundRect">
            <a:avLst>
              <a:gd name="adj" fmla="val 23810"/>
            </a:avLst>
          </a:prstGeom>
          <a:solidFill>
            <a:schemeClr val="accent6"/>
          </a:solidFill>
          <a:ln/>
        </p:spPr>
      </p:sp>
      <p:sp>
        <p:nvSpPr>
          <p:cNvPr id="54" name="Text 43"/>
          <p:cNvSpPr txBox="1"/>
          <p:nvPr/>
        </p:nvSpPr>
        <p:spPr>
          <a:xfrm>
            <a:off x="11228832" y="4151376"/>
            <a:ext cx="475488" cy="38404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55" name="Text 44"/>
          <p:cNvSpPr txBox="1"/>
          <p:nvPr/>
        </p:nvSpPr>
        <p:spPr>
          <a:xfrm>
            <a:off x="9939528" y="4114800"/>
            <a:ext cx="1234440" cy="457200"/>
          </a:xfrm>
          <a:prstGeom prst="rect">
            <a:avLst/>
          </a:prstGeom>
          <a:noFill/>
          <a:ln/>
        </p:spPr>
        <p:txBody>
          <a:bodyPr wrap="square" lIns="0" tIns="0" rIns="0" bIns="0" rtlCol="0" anchor="ctr"/>
          <a:lstStyle/>
          <a:p>
            <a:pPr indent="0" marL="0">
              <a:buNone/>
            </a:pPr>
            <a:r>
              <a:rPr lang="en-US" sz="1400" b="1" dirty="0">
                <a:solidFill>
                  <a:schemeClr val="tx1"/>
                </a:solidFill>
              </a:rPr>
              <a:t>Chercher &amp; s'informer</a:t>
            </a:r>
            <a:endParaRPr lang="en-US" sz="1400" dirty="0"/>
          </a:p>
        </p:txBody>
      </p:sp>
      <p:sp>
        <p:nvSpPr>
          <p:cNvPr id="56" name="Text 45"/>
          <p:cNvSpPr txBox="1"/>
          <p:nvPr/>
        </p:nvSpPr>
        <p:spPr>
          <a:xfrm>
            <a:off x="9372600" y="4709160"/>
            <a:ext cx="2377440" cy="12344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Moteur de recherche</a:t>
            </a:r>
            <a:endParaRPr lang="en-US" sz="1200" dirty="0"/>
          </a:p>
          <a:p>
            <a:pPr marL="152400" indent="-152400">
              <a:spcAft>
                <a:spcPts val="300"/>
              </a:spcAft>
              <a:buSzPct val="100000"/>
              <a:buChar char="•"/>
            </a:pPr>
            <a:r>
              <a:rPr lang="en-US" sz="1200" dirty="0">
                <a:solidFill>
                  <a:schemeClr val="tx1"/>
                </a:solidFill>
              </a:rPr>
              <a:t>Chercher de l'info sourcée</a:t>
            </a:r>
            <a:endParaRPr lang="en-US" sz="1200" dirty="0"/>
          </a:p>
          <a:p>
            <a:pPr marL="152400" indent="-152400">
              <a:spcAft>
                <a:spcPts val="300"/>
              </a:spcAft>
              <a:buSzPct val="100000"/>
              <a:buChar char="•"/>
            </a:pPr>
            <a:r>
              <a:rPr lang="en-US" sz="1200" dirty="0">
                <a:solidFill>
                  <a:schemeClr val="tx1"/>
                </a:solidFill>
              </a:rPr>
              <a:t>Benchmark</a:t>
            </a:r>
            <a:endParaRPr lang="en-US" sz="1200" dirty="0"/>
          </a:p>
        </p:txBody>
      </p:sp>
      <p:sp>
        <p:nvSpPr>
          <p:cNvPr id="57" name="Text 46"/>
          <p:cNvSpPr txBox="1"/>
          <p:nvPr/>
        </p:nvSpPr>
        <p:spPr>
          <a:xfrm>
            <a:off x="3246120" y="6291072"/>
            <a:ext cx="5486400" cy="274320"/>
          </a:xfrm>
          <a:prstGeom prst="rect">
            <a:avLst/>
          </a:prstGeom>
          <a:noFill/>
          <a:ln/>
        </p:spPr>
        <p:txBody>
          <a:bodyPr wrap="square" lIns="0" tIns="0" rIns="0" bIns="0" rtlCol="0" anchor="ctr"/>
          <a:lstStyle/>
          <a:p>
            <a:pPr indent="0" marL="0">
              <a:buNone/>
            </a:pPr>
            <a:r>
              <a:rPr lang="en-US" sz="1000" i="1" dirty="0">
                <a:solidFill>
                  <a:schemeClr val="accent4"/>
                </a:solidFill>
              </a:rPr>
              <a:t>Chiffre en or : nombre d'usages cités dans la famille</a:t>
            </a:r>
            <a:endParaRPr lang="en-US" sz="10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Inter"/>
                <a:ea typeface="Inter"/>
                <a:cs typeface="Inter"/>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8686800" cy="292608"/>
          </a:xfrm>
          <a:prstGeom prst="rect">
            <a:avLst/>
          </a:prstGeom>
          <a:noFill/>
          <a:ln/>
        </p:spPr>
        <p:txBody>
          <a:bodyPr wrap="square" lIns="0" tIns="0" rIns="0" bIns="0" rtlCol="0"/>
          <a:lstStyle/>
          <a:p>
            <a:pPr indent="0" marL="0">
              <a:buNone/>
            </a:pPr>
            <a:r>
              <a:rPr lang="en-US" sz="1200" b="1" spc="200" kern="0" dirty="0">
                <a:solidFill>
                  <a:schemeClr val="accent2"/>
                </a:solidFill>
                <a:latin typeface="Inter" pitchFamily="34" charset="0"/>
                <a:ea typeface="Inter" pitchFamily="34" charset="-122"/>
                <a:cs typeface="Inter" pitchFamily="34" charset="-120"/>
              </a:rPr>
              <a:t>ATTENTES &amp; QUESTIONNEMENTS</a:t>
            </a:r>
            <a:endParaRPr lang="en-US" sz="1200" dirty="0"/>
          </a:p>
        </p:txBody>
      </p:sp>
      <p:sp>
        <p:nvSpPr>
          <p:cNvPr id="3" name="Text 0"/>
          <p:cNvSpPr/>
          <p:nvPr>
            <p:ph idx="102" type="title" hasCustomPrompt="1"/>
          </p:nvPr>
        </p:nvSpPr>
        <p:spPr>
          <a:xfrm>
            <a:off x="548640" y="694944"/>
            <a:ext cx="10515600" cy="731520"/>
          </a:xfrm>
          <a:prstGeom prst="rect">
            <a:avLst/>
          </a:prstGeom>
          <a:noFill/>
          <a:ln/>
        </p:spPr>
        <p:txBody>
          <a:bodyPr wrap="square" lIns="0" tIns="0" rIns="0" bIns="0" rtlCol="0" anchor="t"/>
          <a:lstStyle/>
          <a:p>
            <a:pPr algn="l" indent="0" marL="0">
              <a:buNone/>
            </a:pPr>
            <a:r>
              <a:rPr lang="en-US" sz="3600" b="1" dirty="0">
                <a:solidFill>
                  <a:schemeClr val="bg2"/>
                </a:solidFill>
                <a:latin typeface="Inter" pitchFamily="34" charset="0"/>
                <a:ea typeface="Inter" pitchFamily="34" charset="-122"/>
                <a:cs typeface="Inter" pitchFamily="34" charset="-120"/>
              </a:rPr>
              <a:t>Gagner du temps, sans perdre la main</a:t>
            </a:r>
            <a:endParaRPr lang="en-US" sz="3600" dirty="0"/>
          </a:p>
        </p:txBody>
      </p:sp>
      <p:sp>
        <p:nvSpPr>
          <p:cNvPr id="5" name="hero-temps"/>
          <p:cNvSpPr/>
          <p:nvPr/>
        </p:nvSpPr>
        <p:spPr>
          <a:xfrm>
            <a:off x="548640" y="1600200"/>
            <a:ext cx="3291840" cy="4434840"/>
          </a:xfrm>
          <a:prstGeom prst="roundRect">
            <a:avLst>
              <a:gd name="adj" fmla="val 4167"/>
            </a:avLst>
          </a:prstGeom>
          <a:solidFill>
            <a:schemeClr val="accent2"/>
          </a:solidFill>
          <a:ln/>
          <a:effectLst>
            <a:outerShdw sx="100000" sy="100000" kx="0" ky="0" algn="bl" rotWithShape="0" blurRad="101600" dist="25400" dir="5400000">
              <a:srgbClr val="000000">
                <a:alpha val="12000"/>
              </a:srgbClr>
            </a:outerShdw>
          </a:effectLst>
        </p:spPr>
      </p:sp>
      <p:sp>
        <p:nvSpPr>
          <p:cNvPr id="6" name="Text 3"/>
          <p:cNvSpPr txBox="1"/>
          <p:nvPr/>
        </p:nvSpPr>
        <p:spPr>
          <a:xfrm>
            <a:off x="822960" y="1828800"/>
            <a:ext cx="27432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ATTENTE N°1</a:t>
            </a:r>
            <a:endParaRPr lang="en-US" sz="1200" dirty="0"/>
          </a:p>
        </p:txBody>
      </p:sp>
      <p:pic>
        <p:nvPicPr>
          <p:cNvPr id="7" name="Image 0" descr="preencoded.png">    </p:cNvPr>
          <p:cNvPicPr>
            <a:picLocks noChangeAspect="1"/>
          </p:cNvPicPr>
          <p:nvPr/>
        </p:nvPicPr>
        <p:blipFill>
          <a:blip r:embed="rId1"/>
          <a:stretch>
            <a:fillRect/>
          </a:stretch>
        </p:blipFill>
        <p:spPr>
          <a:xfrm>
            <a:off x="1463040" y="2240280"/>
            <a:ext cx="1463040" cy="1463040"/>
          </a:xfrm>
          <a:prstGeom prst="rect">
            <a:avLst/>
          </a:prstGeom>
        </p:spPr>
      </p:pic>
      <p:sp>
        <p:nvSpPr>
          <p:cNvPr id="8" name="Text 4"/>
          <p:cNvSpPr txBox="1"/>
          <p:nvPr/>
        </p:nvSpPr>
        <p:spPr>
          <a:xfrm>
            <a:off x="822960" y="3840480"/>
            <a:ext cx="2743200" cy="914400"/>
          </a:xfrm>
          <a:prstGeom prst="rect">
            <a:avLst/>
          </a:prstGeom>
          <a:noFill/>
          <a:ln/>
        </p:spPr>
        <p:txBody>
          <a:bodyPr wrap="square" lIns="0" tIns="0" rIns="0" bIns="0" rtlCol="0" anchor="t"/>
          <a:lstStyle/>
          <a:p>
            <a:pPr indent="0" marL="0">
              <a:buNone/>
            </a:pPr>
            <a:r>
              <a:rPr lang="en-US" sz="3000" b="1" dirty="0">
                <a:solidFill>
                  <a:schemeClr val="tx1"/>
                </a:solidFill>
              </a:rPr>
              <a:t>Gagner du temps</a:t>
            </a:r>
            <a:endParaRPr lang="en-US" sz="3000" dirty="0"/>
          </a:p>
        </p:txBody>
      </p:sp>
      <p:sp>
        <p:nvSpPr>
          <p:cNvPr id="9" name="Text 5"/>
          <p:cNvSpPr txBox="1"/>
          <p:nvPr/>
        </p:nvSpPr>
        <p:spPr>
          <a:xfrm>
            <a:off x="822960" y="4800600"/>
            <a:ext cx="2743200" cy="685800"/>
          </a:xfrm>
          <a:prstGeom prst="rect">
            <a:avLst/>
          </a:prstGeom>
          <a:noFill/>
          <a:ln/>
        </p:spPr>
        <p:txBody>
          <a:bodyPr wrap="square" lIns="0" tIns="0" rIns="0" bIns="0" rtlCol="0" anchor="t"/>
          <a:lstStyle/>
          <a:p>
            <a:pPr indent="0" marL="0">
              <a:buNone/>
            </a:pPr>
            <a:r>
              <a:rPr lang="en-US" sz="1400" dirty="0">
                <a:solidFill>
                  <a:schemeClr val="tx1"/>
                </a:solidFill>
              </a:rPr>
              <a:t>Revenu de manière récurrente dans le tour de table</a:t>
            </a:r>
            <a:endParaRPr lang="en-US" sz="1400" dirty="0"/>
          </a:p>
        </p:txBody>
      </p:sp>
      <p:sp>
        <p:nvSpPr>
          <p:cNvPr id="10" name="attente-1"/>
          <p:cNvSpPr/>
          <p:nvPr/>
        </p:nvSpPr>
        <p:spPr>
          <a:xfrm>
            <a:off x="4160520" y="1600200"/>
            <a:ext cx="2377440" cy="2148840"/>
          </a:xfrm>
          <a:prstGeom prst="roundRect">
            <a:avLst>
              <a:gd name="adj" fmla="val 5106"/>
            </a:avLst>
          </a:prstGeom>
          <a:solidFill>
            <a:schemeClr val="accent1"/>
          </a:solidFill>
          <a:ln/>
          <a:effectLst>
            <a:outerShdw sx="100000" sy="100000" kx="0" ky="0" algn="bl" rotWithShape="0" blurRad="101600" dist="25400" dir="5400000">
              <a:srgbClr val="000000">
                <a:alpha val="12000"/>
              </a:srgbClr>
            </a:outerShdw>
          </a:effectLst>
        </p:spPr>
      </p:sp>
      <p:sp>
        <p:nvSpPr>
          <p:cNvPr id="11" name="Shape 7"/>
          <p:cNvSpPr/>
          <p:nvPr/>
        </p:nvSpPr>
        <p:spPr>
          <a:xfrm>
            <a:off x="4325112" y="1764792"/>
            <a:ext cx="420624" cy="420624"/>
          </a:xfrm>
          <a:prstGeom prst="ellipse">
            <a:avLst/>
          </a:prstGeom>
          <a:solidFill>
            <a:schemeClr val="bg2"/>
          </a:solidFill>
          <a:ln/>
        </p:spPr>
      </p:sp>
      <p:pic>
        <p:nvPicPr>
          <p:cNvPr id="12" name="Image 1" descr="preencoded.png">    </p:cNvPr>
          <p:cNvPicPr>
            <a:picLocks noChangeAspect="1"/>
          </p:cNvPicPr>
          <p:nvPr/>
        </p:nvPicPr>
        <p:blipFill>
          <a:blip r:embed="rId2"/>
          <a:stretch>
            <a:fillRect/>
          </a:stretch>
        </p:blipFill>
        <p:spPr>
          <a:xfrm>
            <a:off x="4407408" y="1847088"/>
            <a:ext cx="256032" cy="256032"/>
          </a:xfrm>
          <a:prstGeom prst="rect">
            <a:avLst/>
          </a:prstGeom>
        </p:spPr>
      </p:pic>
      <p:sp>
        <p:nvSpPr>
          <p:cNvPr id="13" name="Shape 8"/>
          <p:cNvSpPr/>
          <p:nvPr/>
        </p:nvSpPr>
        <p:spPr>
          <a:xfrm>
            <a:off x="5971032" y="1783080"/>
            <a:ext cx="411480" cy="365760"/>
          </a:xfrm>
          <a:prstGeom prst="roundRect">
            <a:avLst>
              <a:gd name="adj" fmla="val 25000"/>
            </a:avLst>
          </a:prstGeom>
          <a:solidFill>
            <a:schemeClr val="accent2"/>
          </a:solidFill>
          <a:ln/>
        </p:spPr>
      </p:sp>
      <p:sp>
        <p:nvSpPr>
          <p:cNvPr id="14" name="Text 9"/>
          <p:cNvSpPr txBox="1"/>
          <p:nvPr/>
        </p:nvSpPr>
        <p:spPr>
          <a:xfrm>
            <a:off x="5971032" y="1783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5" name="Text 10"/>
          <p:cNvSpPr txBox="1"/>
          <p:nvPr/>
        </p:nvSpPr>
        <p:spPr>
          <a:xfrm>
            <a:off x="4837176" y="1764792"/>
            <a:ext cx="1078992" cy="420624"/>
          </a:xfrm>
          <a:prstGeom prst="rect">
            <a:avLst/>
          </a:prstGeom>
          <a:noFill/>
          <a:ln/>
        </p:spPr>
        <p:txBody>
          <a:bodyPr wrap="square" lIns="0" tIns="0" rIns="0" bIns="0" rtlCol="0" anchor="ctr"/>
          <a:lstStyle/>
          <a:p>
            <a:pPr indent="0" marL="0">
              <a:buNone/>
            </a:pPr>
            <a:r>
              <a:rPr lang="en-US" sz="1400" b="1" dirty="0">
                <a:solidFill>
                  <a:schemeClr val="bg1"/>
                </a:solidFill>
              </a:rPr>
              <a:t>Garder la main</a:t>
            </a:r>
            <a:endParaRPr lang="en-US" sz="1400" dirty="0"/>
          </a:p>
        </p:txBody>
      </p:sp>
      <p:sp>
        <p:nvSpPr>
          <p:cNvPr id="16" name="Text 11"/>
          <p:cNvSpPr txBox="1"/>
          <p:nvPr/>
        </p:nvSpPr>
        <p:spPr>
          <a:xfrm>
            <a:off x="4325112" y="2331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Plus de discernement</a:t>
            </a:r>
            <a:endParaRPr lang="en-US" sz="1200" dirty="0"/>
          </a:p>
          <a:p>
            <a:pPr marL="152400" indent="-152400">
              <a:spcAft>
                <a:spcPts val="300"/>
              </a:spcAft>
              <a:buSzPct val="100000"/>
              <a:buChar char="•"/>
            </a:pPr>
            <a:r>
              <a:rPr lang="en-US" sz="1200" dirty="0">
                <a:solidFill>
                  <a:schemeClr val="bg1"/>
                </a:solidFill>
              </a:rPr>
              <a:t>Prise de recul</a:t>
            </a:r>
            <a:endParaRPr lang="en-US" sz="1200" dirty="0"/>
          </a:p>
          <a:p>
            <a:pPr marL="152400" indent="-152400">
              <a:spcAft>
                <a:spcPts val="300"/>
              </a:spcAft>
              <a:buSzPct val="100000"/>
              <a:buChar char="•"/>
            </a:pPr>
            <a:r>
              <a:rPr lang="en-US" sz="1200" dirty="0">
                <a:solidFill>
                  <a:schemeClr val="bg1"/>
                </a:solidFill>
              </a:rPr>
              <a:t>Garder son intelligence</a:t>
            </a:r>
            <a:endParaRPr lang="en-US" sz="1200" dirty="0"/>
          </a:p>
          <a:p>
            <a:pPr marL="152400" indent="-152400">
              <a:spcAft>
                <a:spcPts val="300"/>
              </a:spcAft>
              <a:buSzPct val="100000"/>
              <a:buChar char="•"/>
            </a:pPr>
            <a:r>
              <a:rPr lang="en-US" sz="1200" dirty="0">
                <a:solidFill>
                  <a:schemeClr val="bg1"/>
                </a:solidFill>
              </a:rPr>
              <a:t>Enjeux d'autonomie</a:t>
            </a:r>
            <a:endParaRPr lang="en-US" sz="1200" dirty="0"/>
          </a:p>
          <a:p>
            <a:pPr marL="152400" indent="-152400">
              <a:spcAft>
                <a:spcPts val="300"/>
              </a:spcAft>
              <a:buSzPct val="100000"/>
              <a:buChar char="•"/>
            </a:pPr>
            <a:r>
              <a:rPr lang="en-US" sz="1200" dirty="0">
                <a:solidFill>
                  <a:schemeClr val="bg1"/>
                </a:solidFill>
              </a:rPr>
              <a:t>Usages raisonnés</a:t>
            </a:r>
            <a:endParaRPr lang="en-US" sz="1200" dirty="0"/>
          </a:p>
        </p:txBody>
      </p:sp>
      <p:sp>
        <p:nvSpPr>
          <p:cNvPr id="17" name="attente-2"/>
          <p:cNvSpPr/>
          <p:nvPr/>
        </p:nvSpPr>
        <p:spPr>
          <a:xfrm>
            <a:off x="6784848" y="1600200"/>
            <a:ext cx="2377440" cy="2148840"/>
          </a:xfrm>
          <a:prstGeom prst="roundRect">
            <a:avLst>
              <a:gd name="adj" fmla="val 5106"/>
            </a:avLst>
          </a:prstGeom>
          <a:solidFill>
            <a:schemeClr val="accent1"/>
          </a:solidFill>
          <a:ln/>
          <a:effectLst>
            <a:outerShdw sx="100000" sy="100000" kx="0" ky="0" algn="bl" rotWithShape="0" blurRad="101600" dist="25400" dir="5400000">
              <a:srgbClr val="000000">
                <a:alpha val="12000"/>
              </a:srgbClr>
            </a:outerShdw>
          </a:effectLst>
        </p:spPr>
      </p:sp>
      <p:sp>
        <p:nvSpPr>
          <p:cNvPr id="18" name="Shape 13"/>
          <p:cNvSpPr/>
          <p:nvPr/>
        </p:nvSpPr>
        <p:spPr>
          <a:xfrm>
            <a:off x="6949440" y="1764792"/>
            <a:ext cx="420624" cy="420624"/>
          </a:xfrm>
          <a:prstGeom prst="ellipse">
            <a:avLst/>
          </a:prstGeom>
          <a:solidFill>
            <a:schemeClr val="bg2"/>
          </a:solidFill>
          <a:ln/>
        </p:spPr>
      </p:sp>
      <p:pic>
        <p:nvPicPr>
          <p:cNvPr id="19" name="Image 2" descr="preencoded.png">    </p:cNvPr>
          <p:cNvPicPr>
            <a:picLocks noChangeAspect="1"/>
          </p:cNvPicPr>
          <p:nvPr/>
        </p:nvPicPr>
        <p:blipFill>
          <a:blip r:embed="rId3"/>
          <a:stretch>
            <a:fillRect/>
          </a:stretch>
        </p:blipFill>
        <p:spPr>
          <a:xfrm>
            <a:off x="7031736" y="1847088"/>
            <a:ext cx="256032" cy="256032"/>
          </a:xfrm>
          <a:prstGeom prst="rect">
            <a:avLst/>
          </a:prstGeom>
        </p:spPr>
      </p:pic>
      <p:sp>
        <p:nvSpPr>
          <p:cNvPr id="20" name="Shape 14"/>
          <p:cNvSpPr/>
          <p:nvPr/>
        </p:nvSpPr>
        <p:spPr>
          <a:xfrm>
            <a:off x="8595360" y="1783080"/>
            <a:ext cx="411480" cy="365760"/>
          </a:xfrm>
          <a:prstGeom prst="roundRect">
            <a:avLst>
              <a:gd name="adj" fmla="val 25000"/>
            </a:avLst>
          </a:prstGeom>
          <a:solidFill>
            <a:schemeClr val="accent2"/>
          </a:solidFill>
          <a:ln/>
        </p:spPr>
      </p:sp>
      <p:sp>
        <p:nvSpPr>
          <p:cNvPr id="21" name="Text 15"/>
          <p:cNvSpPr txBox="1"/>
          <p:nvPr/>
        </p:nvSpPr>
        <p:spPr>
          <a:xfrm>
            <a:off x="8595360" y="1783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Text 16"/>
          <p:cNvSpPr txBox="1"/>
          <p:nvPr/>
        </p:nvSpPr>
        <p:spPr>
          <a:xfrm>
            <a:off x="7461504" y="1764792"/>
            <a:ext cx="1078992" cy="420624"/>
          </a:xfrm>
          <a:prstGeom prst="rect">
            <a:avLst/>
          </a:prstGeom>
          <a:noFill/>
          <a:ln/>
        </p:spPr>
        <p:txBody>
          <a:bodyPr wrap="square" lIns="0" tIns="0" rIns="0" bIns="0" rtlCol="0" anchor="ctr"/>
          <a:lstStyle/>
          <a:p>
            <a:pPr indent="0" marL="0">
              <a:buNone/>
            </a:pPr>
            <a:r>
              <a:rPr lang="en-US" sz="1400" b="1" dirty="0">
                <a:solidFill>
                  <a:schemeClr val="bg1"/>
                </a:solidFill>
              </a:rPr>
              <a:t>Fiabilité de l'info</a:t>
            </a:r>
            <a:endParaRPr lang="en-US" sz="1400" dirty="0"/>
          </a:p>
        </p:txBody>
      </p:sp>
      <p:sp>
        <p:nvSpPr>
          <p:cNvPr id="23" name="Text 17"/>
          <p:cNvSpPr txBox="1"/>
          <p:nvPr/>
        </p:nvSpPr>
        <p:spPr>
          <a:xfrm>
            <a:off x="6949440" y="2331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Fact checking</a:t>
            </a:r>
            <a:endParaRPr lang="en-US" sz="1200" dirty="0"/>
          </a:p>
          <a:p>
            <a:pPr marL="152400" indent="-152400">
              <a:spcAft>
                <a:spcPts val="300"/>
              </a:spcAft>
              <a:buSzPct val="100000"/>
              <a:buChar char="•"/>
            </a:pPr>
            <a:r>
              <a:rPr lang="en-US" sz="1200" dirty="0">
                <a:solidFill>
                  <a:schemeClr val="bg1"/>
                </a:solidFill>
              </a:rPr>
              <a:t>Comprendre les sources</a:t>
            </a:r>
            <a:endParaRPr lang="en-US" sz="1200" dirty="0"/>
          </a:p>
          <a:p>
            <a:pPr marL="152400" indent="-152400">
              <a:spcAft>
                <a:spcPts val="300"/>
              </a:spcAft>
              <a:buSzPct val="100000"/>
              <a:buChar char="•"/>
            </a:pPr>
            <a:r>
              <a:rPr lang="en-US" sz="1200" dirty="0">
                <a:solidFill>
                  <a:schemeClr val="bg1"/>
                </a:solidFill>
              </a:rPr>
              <a:t>Hallucinations</a:t>
            </a:r>
            <a:endParaRPr lang="en-US" sz="1200" dirty="0"/>
          </a:p>
          <a:p>
            <a:pPr marL="152400" indent="-152400">
              <a:spcAft>
                <a:spcPts val="300"/>
              </a:spcAft>
              <a:buSzPct val="100000"/>
              <a:buChar char="•"/>
            </a:pPr>
            <a:r>
              <a:rPr lang="en-US" sz="1200" dirty="0">
                <a:solidFill>
                  <a:schemeClr val="bg1"/>
                </a:solidFill>
              </a:rPr>
              <a:t>Fake news</a:t>
            </a:r>
            <a:endParaRPr lang="en-US" sz="1200" dirty="0"/>
          </a:p>
        </p:txBody>
      </p:sp>
      <p:sp>
        <p:nvSpPr>
          <p:cNvPr id="24" name="attente-3"/>
          <p:cNvSpPr/>
          <p:nvPr/>
        </p:nvSpPr>
        <p:spPr>
          <a:xfrm>
            <a:off x="9409176" y="1600200"/>
            <a:ext cx="237744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25" name="Shape 19"/>
          <p:cNvSpPr/>
          <p:nvPr/>
        </p:nvSpPr>
        <p:spPr>
          <a:xfrm>
            <a:off x="9573768" y="1764792"/>
            <a:ext cx="420624" cy="420624"/>
          </a:xfrm>
          <a:prstGeom prst="ellipse">
            <a:avLst/>
          </a:prstGeom>
          <a:solidFill>
            <a:schemeClr val="accent5"/>
          </a:solidFill>
          <a:ln/>
        </p:spPr>
      </p:sp>
      <p:pic>
        <p:nvPicPr>
          <p:cNvPr id="26" name="Image 3" descr="preencoded.png">    </p:cNvPr>
          <p:cNvPicPr>
            <a:picLocks noChangeAspect="1"/>
          </p:cNvPicPr>
          <p:nvPr/>
        </p:nvPicPr>
        <p:blipFill>
          <a:blip r:embed="rId4"/>
          <a:stretch>
            <a:fillRect/>
          </a:stretch>
        </p:blipFill>
        <p:spPr>
          <a:xfrm>
            <a:off x="9656064" y="1847088"/>
            <a:ext cx="256032" cy="256032"/>
          </a:xfrm>
          <a:prstGeom prst="rect">
            <a:avLst/>
          </a:prstGeom>
        </p:spPr>
      </p:pic>
      <p:sp>
        <p:nvSpPr>
          <p:cNvPr id="27" name="Shape 20"/>
          <p:cNvSpPr/>
          <p:nvPr/>
        </p:nvSpPr>
        <p:spPr>
          <a:xfrm>
            <a:off x="11219688" y="1783080"/>
            <a:ext cx="411480" cy="365760"/>
          </a:xfrm>
          <a:prstGeom prst="roundRect">
            <a:avLst>
              <a:gd name="adj" fmla="val 25000"/>
            </a:avLst>
          </a:prstGeom>
          <a:solidFill>
            <a:schemeClr val="accent6"/>
          </a:solidFill>
          <a:ln/>
        </p:spPr>
      </p:sp>
      <p:sp>
        <p:nvSpPr>
          <p:cNvPr id="28" name="Text 21"/>
          <p:cNvSpPr txBox="1"/>
          <p:nvPr/>
        </p:nvSpPr>
        <p:spPr>
          <a:xfrm>
            <a:off x="11219688" y="1783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9" name="Text 22"/>
          <p:cNvSpPr txBox="1"/>
          <p:nvPr/>
        </p:nvSpPr>
        <p:spPr>
          <a:xfrm>
            <a:off x="10085832" y="1764792"/>
            <a:ext cx="1078992" cy="420624"/>
          </a:xfrm>
          <a:prstGeom prst="rect">
            <a:avLst/>
          </a:prstGeom>
          <a:noFill/>
          <a:ln/>
        </p:spPr>
        <p:txBody>
          <a:bodyPr wrap="square" lIns="0" tIns="0" rIns="0" bIns="0" rtlCol="0" anchor="ctr"/>
          <a:lstStyle/>
          <a:p>
            <a:pPr indent="0" marL="0">
              <a:buNone/>
            </a:pPr>
            <a:r>
              <a:rPr lang="en-US" sz="1400" b="1" dirty="0">
                <a:solidFill>
                  <a:schemeClr val="tx1"/>
                </a:solidFill>
              </a:rPr>
              <a:t>Maîtriser l'outil</a:t>
            </a:r>
            <a:endParaRPr lang="en-US" sz="1400" dirty="0"/>
          </a:p>
        </p:txBody>
      </p:sp>
      <p:sp>
        <p:nvSpPr>
          <p:cNvPr id="30" name="Text 23"/>
          <p:cNvSpPr txBox="1"/>
          <p:nvPr/>
        </p:nvSpPr>
        <p:spPr>
          <a:xfrm>
            <a:off x="9573768" y="2331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Expérimenter</a:t>
            </a:r>
            <a:endParaRPr lang="en-US" sz="1200" dirty="0"/>
          </a:p>
          <a:p>
            <a:pPr marL="152400" indent="-152400">
              <a:spcAft>
                <a:spcPts val="300"/>
              </a:spcAft>
              <a:buSzPct val="100000"/>
              <a:buChar char="•"/>
            </a:pPr>
            <a:r>
              <a:rPr lang="en-US" sz="1200" dirty="0">
                <a:solidFill>
                  <a:schemeClr val="tx1"/>
                </a:solidFill>
              </a:rPr>
              <a:t>S'y mettre</a:t>
            </a:r>
            <a:endParaRPr lang="en-US" sz="1200" dirty="0"/>
          </a:p>
          <a:p>
            <a:pPr marL="152400" indent="-152400">
              <a:spcAft>
                <a:spcPts val="300"/>
              </a:spcAft>
              <a:buSzPct val="100000"/>
              <a:buChar char="•"/>
            </a:pPr>
            <a:r>
              <a:rPr lang="en-US" sz="1200" dirty="0">
                <a:solidFill>
                  <a:schemeClr val="tx1"/>
                </a:solidFill>
              </a:rPr>
              <a:t>Plus d'usages</a:t>
            </a:r>
            <a:endParaRPr lang="en-US" sz="1200" dirty="0"/>
          </a:p>
          <a:p>
            <a:pPr marL="152400" indent="-152400">
              <a:spcAft>
                <a:spcPts val="300"/>
              </a:spcAft>
              <a:buSzPct val="100000"/>
              <a:buChar char="•"/>
            </a:pPr>
            <a:r>
              <a:rPr lang="en-US" sz="1200" dirty="0">
                <a:solidFill>
                  <a:schemeClr val="tx1"/>
                </a:solidFill>
              </a:rPr>
              <a:t>Comprendre les fonctions</a:t>
            </a:r>
            <a:endParaRPr lang="en-US" sz="1200" dirty="0"/>
          </a:p>
          <a:p>
            <a:pPr marL="152400" indent="-152400">
              <a:spcAft>
                <a:spcPts val="300"/>
              </a:spcAft>
              <a:buSzPct val="100000"/>
              <a:buChar char="•"/>
            </a:pPr>
            <a:r>
              <a:rPr lang="en-US" sz="1200" dirty="0">
                <a:solidFill>
                  <a:schemeClr val="tx1"/>
                </a:solidFill>
              </a:rPr>
              <a:t>Usages sur téléphone</a:t>
            </a:r>
            <a:endParaRPr lang="en-US" sz="1200" dirty="0"/>
          </a:p>
        </p:txBody>
      </p:sp>
      <p:sp>
        <p:nvSpPr>
          <p:cNvPr id="31" name="attente-4"/>
          <p:cNvSpPr/>
          <p:nvPr/>
        </p:nvSpPr>
        <p:spPr>
          <a:xfrm>
            <a:off x="4160520" y="3886200"/>
            <a:ext cx="237744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32" name="Shape 25"/>
          <p:cNvSpPr/>
          <p:nvPr/>
        </p:nvSpPr>
        <p:spPr>
          <a:xfrm>
            <a:off x="4325112" y="4050792"/>
            <a:ext cx="420624" cy="420624"/>
          </a:xfrm>
          <a:prstGeom prst="ellipse">
            <a:avLst/>
          </a:prstGeom>
          <a:solidFill>
            <a:schemeClr val="accent5"/>
          </a:solidFill>
          <a:ln/>
        </p:spPr>
      </p:sp>
      <p:pic>
        <p:nvPicPr>
          <p:cNvPr id="33" name="Image 4" descr="preencoded.png">    </p:cNvPr>
          <p:cNvPicPr>
            <a:picLocks noChangeAspect="1"/>
          </p:cNvPicPr>
          <p:nvPr/>
        </p:nvPicPr>
        <p:blipFill>
          <a:blip r:embed="rId5"/>
          <a:stretch>
            <a:fillRect/>
          </a:stretch>
        </p:blipFill>
        <p:spPr>
          <a:xfrm>
            <a:off x="4407408" y="4133088"/>
            <a:ext cx="256032" cy="256032"/>
          </a:xfrm>
          <a:prstGeom prst="rect">
            <a:avLst/>
          </a:prstGeom>
        </p:spPr>
      </p:pic>
      <p:sp>
        <p:nvSpPr>
          <p:cNvPr id="34" name="Shape 26"/>
          <p:cNvSpPr/>
          <p:nvPr/>
        </p:nvSpPr>
        <p:spPr>
          <a:xfrm>
            <a:off x="5971032" y="4069080"/>
            <a:ext cx="411480" cy="365760"/>
          </a:xfrm>
          <a:prstGeom prst="roundRect">
            <a:avLst>
              <a:gd name="adj" fmla="val 25000"/>
            </a:avLst>
          </a:prstGeom>
          <a:solidFill>
            <a:schemeClr val="accent6"/>
          </a:solidFill>
          <a:ln/>
        </p:spPr>
      </p:sp>
      <p:sp>
        <p:nvSpPr>
          <p:cNvPr id="35" name="Text 27"/>
          <p:cNvSpPr txBox="1"/>
          <p:nvPr/>
        </p:nvSpPr>
        <p:spPr>
          <a:xfrm>
            <a:off x="5971032" y="4069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36" name="Text 28"/>
          <p:cNvSpPr txBox="1"/>
          <p:nvPr/>
        </p:nvSpPr>
        <p:spPr>
          <a:xfrm>
            <a:off x="4837176" y="4050792"/>
            <a:ext cx="1078992" cy="420624"/>
          </a:xfrm>
          <a:prstGeom prst="rect">
            <a:avLst/>
          </a:prstGeom>
          <a:noFill/>
          <a:ln/>
        </p:spPr>
        <p:txBody>
          <a:bodyPr wrap="square" lIns="0" tIns="0" rIns="0" bIns="0" rtlCol="0" anchor="ctr"/>
          <a:lstStyle/>
          <a:p>
            <a:pPr indent="0" marL="0">
              <a:buNone/>
            </a:pPr>
            <a:r>
              <a:rPr lang="en-US" sz="1400" b="1" dirty="0">
                <a:solidFill>
                  <a:schemeClr val="tx1"/>
                </a:solidFill>
              </a:rPr>
              <a:t>Cadre &amp; éthique</a:t>
            </a:r>
            <a:endParaRPr lang="en-US" sz="1400" dirty="0"/>
          </a:p>
        </p:txBody>
      </p:sp>
      <p:sp>
        <p:nvSpPr>
          <p:cNvPr id="37" name="Text 29"/>
          <p:cNvSpPr txBox="1"/>
          <p:nvPr/>
        </p:nvSpPr>
        <p:spPr>
          <a:xfrm>
            <a:off x="4325112" y="4617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Droit d'auteur</a:t>
            </a:r>
            <a:endParaRPr lang="en-US" sz="1200" dirty="0"/>
          </a:p>
          <a:p>
            <a:pPr marL="152400" indent="-152400">
              <a:spcAft>
                <a:spcPts val="300"/>
              </a:spcAft>
              <a:buSzPct val="100000"/>
              <a:buChar char="•"/>
            </a:pPr>
            <a:r>
              <a:rPr lang="en-US" sz="1200" dirty="0">
                <a:solidFill>
                  <a:schemeClr val="tx1"/>
                </a:solidFill>
              </a:rPr>
              <a:t>Sécurité</a:t>
            </a:r>
            <a:endParaRPr lang="en-US" sz="1200" dirty="0"/>
          </a:p>
          <a:p>
            <a:pPr marL="152400" indent="-152400">
              <a:spcAft>
                <a:spcPts val="300"/>
              </a:spcAft>
              <a:buSzPct val="100000"/>
              <a:buChar char="•"/>
            </a:pPr>
            <a:r>
              <a:rPr lang="en-US" sz="1200" dirty="0">
                <a:solidFill>
                  <a:schemeClr val="tx1"/>
                </a:solidFill>
              </a:rPr>
              <a:t>Confidentialité</a:t>
            </a:r>
            <a:endParaRPr lang="en-US" sz="1200" dirty="0"/>
          </a:p>
          <a:p>
            <a:pPr marL="152400" indent="-152400">
              <a:spcAft>
                <a:spcPts val="300"/>
              </a:spcAft>
              <a:buSzPct val="100000"/>
              <a:buChar char="•"/>
            </a:pPr>
            <a:r>
              <a:rPr lang="en-US" sz="1200" dirty="0">
                <a:solidFill>
                  <a:schemeClr val="tx1"/>
                </a:solidFill>
              </a:rPr>
              <a:t>Éthique</a:t>
            </a:r>
            <a:endParaRPr lang="en-US" sz="1200" dirty="0"/>
          </a:p>
          <a:p>
            <a:pPr marL="152400" indent="-152400">
              <a:spcAft>
                <a:spcPts val="300"/>
              </a:spcAft>
              <a:buSzPct val="100000"/>
              <a:buChar char="•"/>
            </a:pPr>
            <a:r>
              <a:rPr lang="en-US" sz="1200" dirty="0">
                <a:solidFill>
                  <a:schemeClr val="tx1"/>
                </a:solidFill>
              </a:rPr>
              <a:t>Impact environnemental</a:t>
            </a:r>
            <a:endParaRPr lang="en-US" sz="1200" dirty="0"/>
          </a:p>
        </p:txBody>
      </p:sp>
      <p:sp>
        <p:nvSpPr>
          <p:cNvPr id="38" name="attente-5"/>
          <p:cNvSpPr/>
          <p:nvPr/>
        </p:nvSpPr>
        <p:spPr>
          <a:xfrm>
            <a:off x="6784848" y="3886200"/>
            <a:ext cx="237744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39" name="Shape 31"/>
          <p:cNvSpPr/>
          <p:nvPr/>
        </p:nvSpPr>
        <p:spPr>
          <a:xfrm>
            <a:off x="6949440" y="4050792"/>
            <a:ext cx="420624" cy="420624"/>
          </a:xfrm>
          <a:prstGeom prst="ellipse">
            <a:avLst/>
          </a:prstGeom>
          <a:solidFill>
            <a:schemeClr val="accent5"/>
          </a:solidFill>
          <a:ln/>
        </p:spPr>
      </p:sp>
      <p:pic>
        <p:nvPicPr>
          <p:cNvPr id="40" name="Image 5" descr="preencoded.png">    </p:cNvPr>
          <p:cNvPicPr>
            <a:picLocks noChangeAspect="1"/>
          </p:cNvPicPr>
          <p:nvPr/>
        </p:nvPicPr>
        <p:blipFill>
          <a:blip r:embed="rId6"/>
          <a:stretch>
            <a:fillRect/>
          </a:stretch>
        </p:blipFill>
        <p:spPr>
          <a:xfrm>
            <a:off x="7031736" y="4133088"/>
            <a:ext cx="256032" cy="256032"/>
          </a:xfrm>
          <a:prstGeom prst="rect">
            <a:avLst/>
          </a:prstGeom>
        </p:spPr>
      </p:pic>
      <p:sp>
        <p:nvSpPr>
          <p:cNvPr id="41" name="Shape 32"/>
          <p:cNvSpPr/>
          <p:nvPr/>
        </p:nvSpPr>
        <p:spPr>
          <a:xfrm>
            <a:off x="8595360" y="4069080"/>
            <a:ext cx="411480" cy="365760"/>
          </a:xfrm>
          <a:prstGeom prst="roundRect">
            <a:avLst>
              <a:gd name="adj" fmla="val 25000"/>
            </a:avLst>
          </a:prstGeom>
          <a:solidFill>
            <a:schemeClr val="accent6"/>
          </a:solidFill>
          <a:ln/>
        </p:spPr>
      </p:sp>
      <p:sp>
        <p:nvSpPr>
          <p:cNvPr id="42" name="Text 33"/>
          <p:cNvSpPr txBox="1"/>
          <p:nvPr/>
        </p:nvSpPr>
        <p:spPr>
          <a:xfrm>
            <a:off x="8595360" y="4069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43" name="Text 34"/>
          <p:cNvSpPr txBox="1"/>
          <p:nvPr/>
        </p:nvSpPr>
        <p:spPr>
          <a:xfrm>
            <a:off x="7461504" y="4050792"/>
            <a:ext cx="1078992" cy="420624"/>
          </a:xfrm>
          <a:prstGeom prst="rect">
            <a:avLst/>
          </a:prstGeom>
          <a:noFill/>
          <a:ln/>
        </p:spPr>
        <p:txBody>
          <a:bodyPr wrap="square" lIns="0" tIns="0" rIns="0" bIns="0" rtlCol="0" anchor="ctr"/>
          <a:lstStyle/>
          <a:p>
            <a:pPr indent="0" marL="0">
              <a:buNone/>
            </a:pPr>
            <a:r>
              <a:rPr lang="en-US" sz="1400" b="1" dirty="0">
                <a:solidFill>
                  <a:schemeClr val="tx1"/>
                </a:solidFill>
              </a:rPr>
              <a:t>Travail &amp; avenir</a:t>
            </a:r>
            <a:endParaRPr lang="en-US" sz="1400" dirty="0"/>
          </a:p>
        </p:txBody>
      </p:sp>
      <p:sp>
        <p:nvSpPr>
          <p:cNvPr id="44" name="Text 35"/>
          <p:cNvSpPr txBox="1"/>
          <p:nvPr/>
        </p:nvSpPr>
        <p:spPr>
          <a:xfrm>
            <a:off x="6949440" y="4617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Va-t-elle me remplacer ?</a:t>
            </a:r>
            <a:endParaRPr lang="en-US" sz="1200" dirty="0"/>
          </a:p>
          <a:p>
            <a:pPr marL="152400" indent="-152400">
              <a:spcAft>
                <a:spcPts val="300"/>
              </a:spcAft>
              <a:buSzPct val="100000"/>
              <a:buChar char="•"/>
            </a:pPr>
            <a:r>
              <a:rPr lang="en-US" sz="1200" dirty="0">
                <a:solidFill>
                  <a:schemeClr val="tx1"/>
                </a:solidFill>
              </a:rPr>
              <a:t>Impact sur le travail</a:t>
            </a:r>
            <a:endParaRPr lang="en-US" sz="1200" dirty="0"/>
          </a:p>
          <a:p>
            <a:pPr marL="152400" indent="-152400">
              <a:spcAft>
                <a:spcPts val="300"/>
              </a:spcAft>
              <a:buSzPct val="100000"/>
              <a:buChar char="•"/>
            </a:pPr>
            <a:r>
              <a:rPr lang="en-US" sz="1200" dirty="0">
                <a:solidFill>
                  <a:schemeClr val="tx1"/>
                </a:solidFill>
              </a:rPr>
              <a:t>Accompagner les jeunes</a:t>
            </a:r>
            <a:endParaRPr lang="en-US" sz="1200" dirty="0"/>
          </a:p>
          <a:p>
            <a:pPr marL="152400" indent="-152400">
              <a:spcAft>
                <a:spcPts val="300"/>
              </a:spcAft>
              <a:buSzPct val="100000"/>
              <a:buChar char="•"/>
            </a:pPr>
            <a:r>
              <a:rPr lang="en-US" sz="1200" dirty="0">
                <a:solidFill>
                  <a:schemeClr val="tx1"/>
                </a:solidFill>
              </a:rPr>
              <a:t>Rêver</a:t>
            </a:r>
            <a:endParaRPr lang="en-US" sz="1200" dirty="0"/>
          </a:p>
        </p:txBody>
      </p:sp>
      <p:sp>
        <p:nvSpPr>
          <p:cNvPr id="45" name="attente-6"/>
          <p:cNvSpPr/>
          <p:nvPr/>
        </p:nvSpPr>
        <p:spPr>
          <a:xfrm>
            <a:off x="9409176" y="3886200"/>
            <a:ext cx="237744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46" name="Shape 37"/>
          <p:cNvSpPr/>
          <p:nvPr/>
        </p:nvSpPr>
        <p:spPr>
          <a:xfrm>
            <a:off x="9573768" y="4050792"/>
            <a:ext cx="420624" cy="420624"/>
          </a:xfrm>
          <a:prstGeom prst="ellipse">
            <a:avLst/>
          </a:prstGeom>
          <a:solidFill>
            <a:schemeClr val="accent5"/>
          </a:solidFill>
          <a:ln/>
        </p:spPr>
      </p:sp>
      <p:pic>
        <p:nvPicPr>
          <p:cNvPr id="47" name="Image 6" descr="preencoded.png">    </p:cNvPr>
          <p:cNvPicPr>
            <a:picLocks noChangeAspect="1"/>
          </p:cNvPicPr>
          <p:nvPr/>
        </p:nvPicPr>
        <p:blipFill>
          <a:blip r:embed="rId7"/>
          <a:stretch>
            <a:fillRect/>
          </a:stretch>
        </p:blipFill>
        <p:spPr>
          <a:xfrm>
            <a:off x="9656064" y="4133088"/>
            <a:ext cx="256032" cy="256032"/>
          </a:xfrm>
          <a:prstGeom prst="rect">
            <a:avLst/>
          </a:prstGeom>
        </p:spPr>
      </p:pic>
      <p:sp>
        <p:nvSpPr>
          <p:cNvPr id="48" name="Shape 38"/>
          <p:cNvSpPr/>
          <p:nvPr/>
        </p:nvSpPr>
        <p:spPr>
          <a:xfrm>
            <a:off x="11219688" y="4069080"/>
            <a:ext cx="411480" cy="365760"/>
          </a:xfrm>
          <a:prstGeom prst="roundRect">
            <a:avLst>
              <a:gd name="adj" fmla="val 25000"/>
            </a:avLst>
          </a:prstGeom>
          <a:solidFill>
            <a:schemeClr val="accent6"/>
          </a:solidFill>
          <a:ln/>
        </p:spPr>
      </p:sp>
      <p:sp>
        <p:nvSpPr>
          <p:cNvPr id="49" name="Text 39"/>
          <p:cNvSpPr txBox="1"/>
          <p:nvPr/>
        </p:nvSpPr>
        <p:spPr>
          <a:xfrm>
            <a:off x="11219688" y="4069080"/>
            <a:ext cx="411480" cy="36576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50" name="Text 40"/>
          <p:cNvSpPr txBox="1"/>
          <p:nvPr/>
        </p:nvSpPr>
        <p:spPr>
          <a:xfrm>
            <a:off x="10085832" y="4050792"/>
            <a:ext cx="1078992" cy="420624"/>
          </a:xfrm>
          <a:prstGeom prst="rect">
            <a:avLst/>
          </a:prstGeom>
          <a:noFill/>
          <a:ln/>
        </p:spPr>
        <p:txBody>
          <a:bodyPr wrap="square" lIns="0" tIns="0" rIns="0" bIns="0" rtlCol="0" anchor="ctr"/>
          <a:lstStyle/>
          <a:p>
            <a:pPr indent="0" marL="0">
              <a:buNone/>
            </a:pPr>
            <a:r>
              <a:rPr lang="en-US" sz="1400" b="1" dirty="0">
                <a:solidFill>
                  <a:schemeClr val="tx1"/>
                </a:solidFill>
              </a:rPr>
              <a:t>Bien-être</a:t>
            </a:r>
            <a:endParaRPr lang="en-US" sz="1400" dirty="0"/>
          </a:p>
        </p:txBody>
      </p:sp>
      <p:sp>
        <p:nvSpPr>
          <p:cNvPr id="51" name="Text 41"/>
          <p:cNvSpPr txBox="1"/>
          <p:nvPr/>
        </p:nvSpPr>
        <p:spPr>
          <a:xfrm>
            <a:off x="9573768" y="4617720"/>
            <a:ext cx="2103120" cy="12801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Santé mentale</a:t>
            </a:r>
            <a:endParaRPr lang="en-US" sz="1200" dirty="0"/>
          </a:p>
          <a:p>
            <a:pPr marL="152400" indent="-152400">
              <a:spcAft>
                <a:spcPts val="300"/>
              </a:spcAft>
              <a:buSzPct val="100000"/>
              <a:buChar char="•"/>
            </a:pPr>
            <a:r>
              <a:rPr lang="en-US" sz="1200" dirty="0">
                <a:solidFill>
                  <a:schemeClr val="tx1"/>
                </a:solidFill>
              </a:rPr>
              <a:t>Droit à la déconnexion</a:t>
            </a:r>
            <a:endParaRPr lang="en-US" sz="1200" dirty="0"/>
          </a:p>
        </p:txBody>
      </p:sp>
      <p:sp>
        <p:nvSpPr>
          <p:cNvPr id="52" name="Text 42"/>
          <p:cNvSpPr txBox="1"/>
          <p:nvPr/>
        </p:nvSpPr>
        <p:spPr>
          <a:xfrm>
            <a:off x="4160520" y="6126480"/>
            <a:ext cx="6583680" cy="292608"/>
          </a:xfrm>
          <a:prstGeom prst="rect">
            <a:avLst/>
          </a:prstGeom>
          <a:noFill/>
          <a:ln/>
        </p:spPr>
        <p:txBody>
          <a:bodyPr wrap="square" lIns="0" tIns="0" rIns="0" bIns="0" rtlCol="0" anchor="ctr"/>
          <a:lstStyle/>
          <a:p>
            <a:pPr indent="0" marL="0">
              <a:buNone/>
            </a:pPr>
            <a:r>
              <a:rPr lang="en-US" sz="1200" b="1" dirty="0">
                <a:solidFill>
                  <a:schemeClr val="accent2"/>
                </a:solidFill>
              </a:rPr>
              <a:t>À retenir : </a:t>
            </a:r>
            <a:pPr indent="0" marL="0">
              <a:buNone/>
            </a:pPr>
            <a:r>
              <a:rPr lang="en-US" sz="1200" dirty="0">
                <a:solidFill>
                  <a:schemeClr val="bg2"/>
                </a:solidFill>
              </a:rPr>
              <a:t>fiabilité et esprit critique (en vert, 9 mentions) pèsent autant que le temps gagné.</a:t>
            </a:r>
            <a:endParaRPr lang="en-US" sz="12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8686800" cy="292608"/>
          </a:xfrm>
          <a:prstGeom prst="rect">
            <a:avLst/>
          </a:prstGeom>
          <a:noFill/>
          <a:ln/>
        </p:spPr>
        <p:txBody>
          <a:bodyPr wrap="square" lIns="0" tIns="0" rIns="0" bIns="0" rtlCol="0"/>
          <a:lstStyle/>
          <a:p>
            <a:pPr indent="0" marL="0">
              <a:buNone/>
            </a:pPr>
            <a:r>
              <a:rPr lang="en-US" sz="1200" b="1" spc="200" kern="0" dirty="0">
                <a:solidFill>
                  <a:schemeClr val="accent2"/>
                </a:solidFill>
                <a:latin typeface="Inter" pitchFamily="34" charset="0"/>
                <a:ea typeface="Inter" pitchFamily="34" charset="-122"/>
                <a:cs typeface="Inter" pitchFamily="34" charset="-120"/>
              </a:rPr>
              <a:t>OUTILS UTILISÉS &amp; LECTURE FORMATRICE</a:t>
            </a:r>
            <a:endParaRPr lang="en-US" sz="1200" dirty="0"/>
          </a:p>
        </p:txBody>
      </p:sp>
      <p:sp>
        <p:nvSpPr>
          <p:cNvPr id="3" name="Text 0"/>
          <p:cNvSpPr/>
          <p:nvPr>
            <p:ph idx="102" type="title" hasCustomPrompt="1"/>
          </p:nvPr>
        </p:nvSpPr>
        <p:spPr>
          <a:xfrm>
            <a:off x="548640" y="694944"/>
            <a:ext cx="10515600" cy="731520"/>
          </a:xfrm>
          <a:prstGeom prst="rect">
            <a:avLst/>
          </a:prstGeom>
          <a:noFill/>
          <a:ln/>
        </p:spPr>
        <p:txBody>
          <a:bodyPr wrap="square" lIns="0" tIns="0" rIns="0" bIns="0" rtlCol="0" anchor="t"/>
          <a:lstStyle/>
          <a:p>
            <a:pPr algn="l" indent="0" marL="0">
              <a:buNone/>
            </a:pPr>
            <a:r>
              <a:rPr lang="en-US" sz="3600" b="1" dirty="0">
                <a:solidFill>
                  <a:schemeClr val="bg2"/>
                </a:solidFill>
                <a:latin typeface="Inter" pitchFamily="34" charset="0"/>
                <a:ea typeface="Inter" pitchFamily="34" charset="-122"/>
                <a:cs typeface="Inter" pitchFamily="34" charset="-120"/>
              </a:rPr>
              <a:t>5 outils déjà dans les mains du groupe</a:t>
            </a:r>
            <a:endParaRPr lang="en-US" sz="3600" dirty="0"/>
          </a:p>
        </p:txBody>
      </p:sp>
      <p:sp>
        <p:nvSpPr>
          <p:cNvPr id="5" name="outil-ChatGPT"/>
          <p:cNvSpPr/>
          <p:nvPr/>
        </p:nvSpPr>
        <p:spPr>
          <a:xfrm>
            <a:off x="548640" y="1645920"/>
            <a:ext cx="2029968" cy="1600200"/>
          </a:xfrm>
          <a:prstGeom prst="roundRect">
            <a:avLst>
              <a:gd name="adj" fmla="val 8000"/>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49808" y="1847088"/>
            <a:ext cx="457200" cy="457200"/>
          </a:xfrm>
          <a:prstGeom prst="rect">
            <a:avLst/>
          </a:prstGeom>
        </p:spPr>
      </p:pic>
      <p:sp>
        <p:nvSpPr>
          <p:cNvPr id="7" name="Text 3"/>
          <p:cNvSpPr txBox="1"/>
          <p:nvPr/>
        </p:nvSpPr>
        <p:spPr>
          <a:xfrm>
            <a:off x="749808" y="2423160"/>
            <a:ext cx="1664208" cy="411480"/>
          </a:xfrm>
          <a:prstGeom prst="rect">
            <a:avLst/>
          </a:prstGeom>
          <a:noFill/>
          <a:ln/>
        </p:spPr>
        <p:txBody>
          <a:bodyPr wrap="square" lIns="0" tIns="0" rIns="0" bIns="0" rtlCol="0" anchor="ctr"/>
          <a:lstStyle/>
          <a:p>
            <a:pPr indent="0" marL="0">
              <a:buNone/>
            </a:pPr>
            <a:r>
              <a:rPr lang="en-US" sz="2000" b="1" dirty="0">
                <a:solidFill>
                  <a:schemeClr val="tx1"/>
                </a:solidFill>
              </a:rPr>
              <a:t>ChatGPT</a:t>
            </a:r>
            <a:endParaRPr lang="en-US" sz="2000" dirty="0"/>
          </a:p>
        </p:txBody>
      </p:sp>
      <p:sp>
        <p:nvSpPr>
          <p:cNvPr id="8" name="Text 4"/>
          <p:cNvSpPr txBox="1"/>
          <p:nvPr/>
        </p:nvSpPr>
        <p:spPr>
          <a:xfrm>
            <a:off x="749808" y="2816352"/>
            <a:ext cx="1664208" cy="274320"/>
          </a:xfrm>
          <a:prstGeom prst="rect">
            <a:avLst/>
          </a:prstGeom>
          <a:noFill/>
          <a:ln/>
        </p:spPr>
        <p:txBody>
          <a:bodyPr wrap="square" lIns="0" tIns="0" rIns="0" bIns="0" rtlCol="0" anchor="ctr"/>
          <a:lstStyle/>
          <a:p>
            <a:pPr indent="0" marL="0">
              <a:buNone/>
            </a:pPr>
            <a:r>
              <a:rPr lang="en-US" sz="1100" dirty="0">
                <a:solidFill>
                  <a:schemeClr val="tx1"/>
                </a:solidFill>
              </a:rPr>
              <a:t>OpenAI</a:t>
            </a:r>
            <a:endParaRPr lang="en-US" sz="1100" dirty="0"/>
          </a:p>
        </p:txBody>
      </p:sp>
      <p:sp>
        <p:nvSpPr>
          <p:cNvPr id="9" name="outil-Copilot"/>
          <p:cNvSpPr/>
          <p:nvPr/>
        </p:nvSpPr>
        <p:spPr>
          <a:xfrm>
            <a:off x="2807208" y="1645920"/>
            <a:ext cx="2029968" cy="1600200"/>
          </a:xfrm>
          <a:prstGeom prst="roundRect">
            <a:avLst>
              <a:gd name="adj" fmla="val 8000"/>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3008376" y="1847088"/>
            <a:ext cx="457200" cy="457200"/>
          </a:xfrm>
          <a:prstGeom prst="rect">
            <a:avLst/>
          </a:prstGeom>
        </p:spPr>
      </p:pic>
      <p:sp>
        <p:nvSpPr>
          <p:cNvPr id="11" name="Text 6"/>
          <p:cNvSpPr txBox="1"/>
          <p:nvPr/>
        </p:nvSpPr>
        <p:spPr>
          <a:xfrm>
            <a:off x="3008376" y="2423160"/>
            <a:ext cx="1664208" cy="411480"/>
          </a:xfrm>
          <a:prstGeom prst="rect">
            <a:avLst/>
          </a:prstGeom>
          <a:noFill/>
          <a:ln/>
        </p:spPr>
        <p:txBody>
          <a:bodyPr wrap="square" lIns="0" tIns="0" rIns="0" bIns="0" rtlCol="0" anchor="ctr"/>
          <a:lstStyle/>
          <a:p>
            <a:pPr indent="0" marL="0">
              <a:buNone/>
            </a:pPr>
            <a:r>
              <a:rPr lang="en-US" sz="2000" b="1" dirty="0">
                <a:solidFill>
                  <a:schemeClr val="tx1"/>
                </a:solidFill>
              </a:rPr>
              <a:t>Copilot</a:t>
            </a:r>
            <a:endParaRPr lang="en-US" sz="2000" dirty="0"/>
          </a:p>
        </p:txBody>
      </p:sp>
      <p:sp>
        <p:nvSpPr>
          <p:cNvPr id="12" name="Text 7"/>
          <p:cNvSpPr txBox="1"/>
          <p:nvPr/>
        </p:nvSpPr>
        <p:spPr>
          <a:xfrm>
            <a:off x="3008376" y="2816352"/>
            <a:ext cx="1664208" cy="274320"/>
          </a:xfrm>
          <a:prstGeom prst="rect">
            <a:avLst/>
          </a:prstGeom>
          <a:noFill/>
          <a:ln/>
        </p:spPr>
        <p:txBody>
          <a:bodyPr wrap="square" lIns="0" tIns="0" rIns="0" bIns="0" rtlCol="0" anchor="ctr"/>
          <a:lstStyle/>
          <a:p>
            <a:pPr indent="0" marL="0">
              <a:buNone/>
            </a:pPr>
            <a:r>
              <a:rPr lang="en-US" sz="1100" dirty="0">
                <a:solidFill>
                  <a:schemeClr val="tx1"/>
                </a:solidFill>
              </a:rPr>
              <a:t>Microsoft</a:t>
            </a:r>
            <a:endParaRPr lang="en-US" sz="1100" dirty="0"/>
          </a:p>
        </p:txBody>
      </p:sp>
      <p:sp>
        <p:nvSpPr>
          <p:cNvPr id="13" name="outil-Gemini"/>
          <p:cNvSpPr/>
          <p:nvPr/>
        </p:nvSpPr>
        <p:spPr>
          <a:xfrm>
            <a:off x="5065776" y="1645920"/>
            <a:ext cx="2029968" cy="1600200"/>
          </a:xfrm>
          <a:prstGeom prst="roundRect">
            <a:avLst>
              <a:gd name="adj" fmla="val 8000"/>
            </a:avLst>
          </a:prstGeom>
          <a:solidFill>
            <a:schemeClr val="tx2"/>
          </a:solidFill>
          <a:ln/>
        </p:spPr>
      </p:sp>
      <p:pic>
        <p:nvPicPr>
          <p:cNvPr id="14" name="Image 2" descr="preencoded.png">    </p:cNvPr>
          <p:cNvPicPr>
            <a:picLocks noChangeAspect="1"/>
          </p:cNvPicPr>
          <p:nvPr/>
        </p:nvPicPr>
        <p:blipFill>
          <a:blip r:embed="rId3"/>
          <a:stretch>
            <a:fillRect/>
          </a:stretch>
        </p:blipFill>
        <p:spPr>
          <a:xfrm>
            <a:off x="5266944" y="1847088"/>
            <a:ext cx="457200" cy="457200"/>
          </a:xfrm>
          <a:prstGeom prst="rect">
            <a:avLst/>
          </a:prstGeom>
        </p:spPr>
      </p:pic>
      <p:sp>
        <p:nvSpPr>
          <p:cNvPr id="15" name="Text 9"/>
          <p:cNvSpPr txBox="1"/>
          <p:nvPr/>
        </p:nvSpPr>
        <p:spPr>
          <a:xfrm>
            <a:off x="5266944" y="2423160"/>
            <a:ext cx="1664208" cy="411480"/>
          </a:xfrm>
          <a:prstGeom prst="rect">
            <a:avLst/>
          </a:prstGeom>
          <a:noFill/>
          <a:ln/>
        </p:spPr>
        <p:txBody>
          <a:bodyPr wrap="square" lIns="0" tIns="0" rIns="0" bIns="0" rtlCol="0" anchor="ctr"/>
          <a:lstStyle/>
          <a:p>
            <a:pPr indent="0" marL="0">
              <a:buNone/>
            </a:pPr>
            <a:r>
              <a:rPr lang="en-US" sz="2000" b="1" dirty="0">
                <a:solidFill>
                  <a:schemeClr val="bg2"/>
                </a:solidFill>
              </a:rPr>
              <a:t>Gemini</a:t>
            </a:r>
            <a:endParaRPr lang="en-US" sz="2000" dirty="0"/>
          </a:p>
        </p:txBody>
      </p:sp>
      <p:sp>
        <p:nvSpPr>
          <p:cNvPr id="16" name="Text 10"/>
          <p:cNvSpPr txBox="1"/>
          <p:nvPr/>
        </p:nvSpPr>
        <p:spPr>
          <a:xfrm>
            <a:off x="5266944" y="2816352"/>
            <a:ext cx="1664208" cy="274320"/>
          </a:xfrm>
          <a:prstGeom prst="rect">
            <a:avLst/>
          </a:prstGeom>
          <a:noFill/>
          <a:ln/>
        </p:spPr>
        <p:txBody>
          <a:bodyPr wrap="square" lIns="0" tIns="0" rIns="0" bIns="0" rtlCol="0" anchor="ctr"/>
          <a:lstStyle/>
          <a:p>
            <a:pPr indent="0" marL="0">
              <a:buNone/>
            </a:pPr>
            <a:r>
              <a:rPr lang="en-US" sz="1100" dirty="0">
                <a:solidFill>
                  <a:schemeClr val="accent5"/>
                </a:solidFill>
              </a:rPr>
              <a:t>Google</a:t>
            </a:r>
            <a:endParaRPr lang="en-US" sz="1100" dirty="0"/>
          </a:p>
        </p:txBody>
      </p:sp>
      <p:sp>
        <p:nvSpPr>
          <p:cNvPr id="17" name="outil-Claude"/>
          <p:cNvSpPr/>
          <p:nvPr/>
        </p:nvSpPr>
        <p:spPr>
          <a:xfrm>
            <a:off x="7324344" y="1645920"/>
            <a:ext cx="2029968" cy="1600200"/>
          </a:xfrm>
          <a:prstGeom prst="roundRect">
            <a:avLst>
              <a:gd name="adj" fmla="val 8000"/>
            </a:avLst>
          </a:prstGeom>
          <a:solidFill>
            <a:schemeClr val="bg2"/>
          </a:solidFill>
          <a:ln/>
        </p:spPr>
      </p:sp>
      <p:pic>
        <p:nvPicPr>
          <p:cNvPr id="18" name="Image 3" descr="preencoded.png">    </p:cNvPr>
          <p:cNvPicPr>
            <a:picLocks noChangeAspect="1"/>
          </p:cNvPicPr>
          <p:nvPr/>
        </p:nvPicPr>
        <p:blipFill>
          <a:blip r:embed="rId4"/>
          <a:stretch>
            <a:fillRect/>
          </a:stretch>
        </p:blipFill>
        <p:spPr>
          <a:xfrm>
            <a:off x="7525512" y="1847088"/>
            <a:ext cx="457200" cy="457200"/>
          </a:xfrm>
          <a:prstGeom prst="rect">
            <a:avLst/>
          </a:prstGeom>
        </p:spPr>
      </p:pic>
      <p:sp>
        <p:nvSpPr>
          <p:cNvPr id="19" name="Text 12"/>
          <p:cNvSpPr txBox="1"/>
          <p:nvPr/>
        </p:nvSpPr>
        <p:spPr>
          <a:xfrm>
            <a:off x="7525512" y="2423160"/>
            <a:ext cx="1664208" cy="411480"/>
          </a:xfrm>
          <a:prstGeom prst="rect">
            <a:avLst/>
          </a:prstGeom>
          <a:noFill/>
          <a:ln/>
        </p:spPr>
        <p:txBody>
          <a:bodyPr wrap="square" lIns="0" tIns="0" rIns="0" bIns="0" rtlCol="0" anchor="ctr"/>
          <a:lstStyle/>
          <a:p>
            <a:pPr indent="0" marL="0">
              <a:buNone/>
            </a:pPr>
            <a:r>
              <a:rPr lang="en-US" sz="2000" b="1" dirty="0">
                <a:solidFill>
                  <a:schemeClr val="tx1"/>
                </a:solidFill>
              </a:rPr>
              <a:t>Claude</a:t>
            </a:r>
            <a:endParaRPr lang="en-US" sz="2000" dirty="0"/>
          </a:p>
        </p:txBody>
      </p:sp>
      <p:sp>
        <p:nvSpPr>
          <p:cNvPr id="20" name="Text 13"/>
          <p:cNvSpPr txBox="1"/>
          <p:nvPr/>
        </p:nvSpPr>
        <p:spPr>
          <a:xfrm>
            <a:off x="7525512" y="2816352"/>
            <a:ext cx="1664208" cy="274320"/>
          </a:xfrm>
          <a:prstGeom prst="rect">
            <a:avLst/>
          </a:prstGeom>
          <a:noFill/>
          <a:ln/>
        </p:spPr>
        <p:txBody>
          <a:bodyPr wrap="square" lIns="0" tIns="0" rIns="0" bIns="0" rtlCol="0" anchor="ctr"/>
          <a:lstStyle/>
          <a:p>
            <a:pPr indent="0" marL="0">
              <a:buNone/>
            </a:pPr>
            <a:r>
              <a:rPr lang="en-US" sz="1100" dirty="0">
                <a:solidFill>
                  <a:schemeClr val="accent4"/>
                </a:solidFill>
              </a:rPr>
              <a:t>Anthropic</a:t>
            </a:r>
            <a:endParaRPr lang="en-US" sz="1100" dirty="0"/>
          </a:p>
        </p:txBody>
      </p:sp>
      <p:sp>
        <p:nvSpPr>
          <p:cNvPr id="21" name="outil-Notion"/>
          <p:cNvSpPr/>
          <p:nvPr/>
        </p:nvSpPr>
        <p:spPr>
          <a:xfrm>
            <a:off x="9582912" y="1645920"/>
            <a:ext cx="2029968" cy="1600200"/>
          </a:xfrm>
          <a:prstGeom prst="roundRect">
            <a:avLst>
              <a:gd name="adj" fmla="val 8000"/>
            </a:avLst>
          </a:prstGeom>
          <a:solidFill>
            <a:schemeClr val="accent5"/>
          </a:solidFill>
          <a:ln/>
        </p:spPr>
      </p:sp>
      <p:pic>
        <p:nvPicPr>
          <p:cNvPr id="22" name="Image 4" descr="preencoded.png">    </p:cNvPr>
          <p:cNvPicPr>
            <a:picLocks noChangeAspect="1"/>
          </p:cNvPicPr>
          <p:nvPr/>
        </p:nvPicPr>
        <p:blipFill>
          <a:blip r:embed="rId5"/>
          <a:stretch>
            <a:fillRect/>
          </a:stretch>
        </p:blipFill>
        <p:spPr>
          <a:xfrm>
            <a:off x="9784080" y="1847088"/>
            <a:ext cx="457200" cy="457200"/>
          </a:xfrm>
          <a:prstGeom prst="rect">
            <a:avLst/>
          </a:prstGeom>
        </p:spPr>
      </p:pic>
      <p:sp>
        <p:nvSpPr>
          <p:cNvPr id="23" name="Text 15"/>
          <p:cNvSpPr txBox="1"/>
          <p:nvPr/>
        </p:nvSpPr>
        <p:spPr>
          <a:xfrm>
            <a:off x="9784080" y="2423160"/>
            <a:ext cx="1664208" cy="411480"/>
          </a:xfrm>
          <a:prstGeom prst="rect">
            <a:avLst/>
          </a:prstGeom>
          <a:noFill/>
          <a:ln/>
        </p:spPr>
        <p:txBody>
          <a:bodyPr wrap="square" lIns="0" tIns="0" rIns="0" bIns="0" rtlCol="0" anchor="ctr"/>
          <a:lstStyle/>
          <a:p>
            <a:pPr indent="0" marL="0">
              <a:buNone/>
            </a:pPr>
            <a:r>
              <a:rPr lang="en-US" sz="2000" b="1" dirty="0">
                <a:solidFill>
                  <a:schemeClr val="tx1"/>
                </a:solidFill>
              </a:rPr>
              <a:t>Notion</a:t>
            </a:r>
            <a:endParaRPr lang="en-US" sz="2000" dirty="0"/>
          </a:p>
        </p:txBody>
      </p:sp>
      <p:sp>
        <p:nvSpPr>
          <p:cNvPr id="24" name="Text 16"/>
          <p:cNvSpPr txBox="1"/>
          <p:nvPr/>
        </p:nvSpPr>
        <p:spPr>
          <a:xfrm>
            <a:off x="9784080" y="2816352"/>
            <a:ext cx="1664208" cy="274320"/>
          </a:xfrm>
          <a:prstGeom prst="rect">
            <a:avLst/>
          </a:prstGeom>
          <a:noFill/>
          <a:ln/>
        </p:spPr>
        <p:txBody>
          <a:bodyPr wrap="square" lIns="0" tIns="0" rIns="0" bIns="0" rtlCol="0" anchor="ctr"/>
          <a:lstStyle/>
          <a:p>
            <a:pPr indent="0" marL="0">
              <a:buNone/>
            </a:pPr>
            <a:r>
              <a:rPr lang="en-US" sz="1100" dirty="0">
                <a:solidFill>
                  <a:schemeClr val="accent4"/>
                </a:solidFill>
              </a:rPr>
              <a:t>Espace de travail + IA</a:t>
            </a:r>
            <a:endParaRPr lang="en-US" sz="1100" dirty="0"/>
          </a:p>
        </p:txBody>
      </p:sp>
      <p:sp>
        <p:nvSpPr>
          <p:cNvPr id="25" name="Text 17"/>
          <p:cNvSpPr txBox="1"/>
          <p:nvPr/>
        </p:nvSpPr>
        <p:spPr>
          <a:xfrm>
            <a:off x="548640" y="3364992"/>
            <a:ext cx="10972800" cy="320040"/>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dirty="0">
                <a:solidFill>
                  <a:schemeClr val="bg2"/>
                </a:solidFill>
              </a:rPr>
              <a:t>assistants conversationnels généralistes  ·  </a:t>
            </a:r>
            <a:pPr indent="0" marL="0">
              <a:buNone/>
            </a:pPr>
            <a:r>
              <a:rPr lang="en-US" sz="1300" b="1" dirty="0">
                <a:solidFill>
                  <a:schemeClr val="accent2"/>
                </a:solidFill>
              </a:rPr>
              <a:t>1 </a:t>
            </a:r>
            <a:pPr indent="0" marL="0">
              <a:buNone/>
            </a:pPr>
            <a:r>
              <a:rPr lang="en-US" sz="1300" dirty="0">
                <a:solidFill>
                  <a:schemeClr val="bg2"/>
                </a:solidFill>
              </a:rPr>
              <a:t>outil d'organisation qui intègre l'IA</a:t>
            </a:r>
            <a:endParaRPr lang="en-US" sz="1300" dirty="0"/>
          </a:p>
        </p:txBody>
      </p:sp>
      <p:sp>
        <p:nvSpPr>
          <p:cNvPr id="26" name="Text 18"/>
          <p:cNvSpPr txBox="1"/>
          <p:nvPr/>
        </p:nvSpPr>
        <p:spPr>
          <a:xfrm>
            <a:off x="548640" y="39319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CE QUE J'EN RETIENS POUR LA SUITE</a:t>
            </a:r>
            <a:endParaRPr lang="en-US" sz="1200" dirty="0"/>
          </a:p>
        </p:txBody>
      </p:sp>
      <p:sp>
        <p:nvSpPr>
          <p:cNvPr id="27" name="piste-1"/>
          <p:cNvSpPr/>
          <p:nvPr/>
        </p:nvSpPr>
        <p:spPr>
          <a:xfrm>
            <a:off x="548640" y="4315968"/>
            <a:ext cx="2606040" cy="1691640"/>
          </a:xfrm>
          <a:prstGeom prst="roundRect">
            <a:avLst>
              <a:gd name="adj" fmla="val 6486"/>
            </a:avLst>
          </a:prstGeom>
          <a:solidFill>
            <a:srgbClr val="2B2B2B"/>
          </a:solidFill>
          <a:ln w="12700">
            <a:solidFill>
              <a:schemeClr val="accent1"/>
            </a:solidFill>
            <a:prstDash val="solid"/>
          </a:ln>
        </p:spPr>
      </p:sp>
      <p:sp>
        <p:nvSpPr>
          <p:cNvPr id="28" name="Text 20"/>
          <p:cNvSpPr txBox="1"/>
          <p:nvPr/>
        </p:nvSpPr>
        <p:spPr>
          <a:xfrm>
            <a:off x="731520" y="4462272"/>
            <a:ext cx="731520" cy="457200"/>
          </a:xfrm>
          <a:prstGeom prst="rect">
            <a:avLst/>
          </a:prstGeom>
          <a:noFill/>
          <a:ln/>
        </p:spPr>
        <p:txBody>
          <a:bodyPr wrap="square" lIns="0" tIns="0" rIns="0" bIns="0" rtlCol="0" anchor="ctr"/>
          <a:lstStyle/>
          <a:p>
            <a:pPr indent="0" marL="0">
              <a:buNone/>
            </a:pPr>
            <a:r>
              <a:rPr lang="en-US" sz="2600" b="1" dirty="0">
                <a:solidFill>
                  <a:schemeClr val="accent2"/>
                </a:solidFill>
              </a:rPr>
              <a:t>01</a:t>
            </a:r>
            <a:endParaRPr lang="en-US" sz="2600" dirty="0"/>
          </a:p>
        </p:txBody>
      </p:sp>
      <p:pic>
        <p:nvPicPr>
          <p:cNvPr id="29" name="Image 5" descr="preencoded.png">    </p:cNvPr>
          <p:cNvPicPr>
            <a:picLocks noChangeAspect="1"/>
          </p:cNvPicPr>
          <p:nvPr/>
        </p:nvPicPr>
        <p:blipFill>
          <a:blip r:embed="rId6"/>
          <a:stretch>
            <a:fillRect/>
          </a:stretch>
        </p:blipFill>
        <p:spPr>
          <a:xfrm>
            <a:off x="2606040" y="4498848"/>
            <a:ext cx="365760" cy="365760"/>
          </a:xfrm>
          <a:prstGeom prst="rect">
            <a:avLst/>
          </a:prstGeom>
        </p:spPr>
      </p:pic>
      <p:sp>
        <p:nvSpPr>
          <p:cNvPr id="30" name="Text 21"/>
          <p:cNvSpPr txBox="1"/>
          <p:nvPr/>
        </p:nvSpPr>
        <p:spPr>
          <a:xfrm>
            <a:off x="731520" y="4956048"/>
            <a:ext cx="2286000" cy="365760"/>
          </a:xfrm>
          <a:prstGeom prst="rect">
            <a:avLst/>
          </a:prstGeom>
          <a:noFill/>
          <a:ln/>
        </p:spPr>
        <p:txBody>
          <a:bodyPr wrap="square" lIns="0" tIns="0" rIns="0" bIns="0" rtlCol="0" anchor="t"/>
          <a:lstStyle/>
          <a:p>
            <a:pPr indent="0" marL="0">
              <a:buNone/>
            </a:pPr>
            <a:r>
              <a:rPr lang="en-US" sz="1400" b="1" dirty="0">
                <a:solidFill>
                  <a:schemeClr val="bg2"/>
                </a:solidFill>
              </a:rPr>
              <a:t>Cap sur l'insertion pro</a:t>
            </a:r>
            <a:endParaRPr lang="en-US" sz="1400" dirty="0"/>
          </a:p>
        </p:txBody>
      </p:sp>
      <p:sp>
        <p:nvSpPr>
          <p:cNvPr id="31" name="Text 22"/>
          <p:cNvSpPr txBox="1"/>
          <p:nvPr/>
        </p:nvSpPr>
        <p:spPr>
          <a:xfrm>
            <a:off x="731520" y="5321808"/>
            <a:ext cx="2286000" cy="640080"/>
          </a:xfrm>
          <a:prstGeom prst="rect">
            <a:avLst/>
          </a:prstGeom>
          <a:noFill/>
          <a:ln/>
        </p:spPr>
        <p:txBody>
          <a:bodyPr wrap="square" lIns="0" tIns="0" rIns="0" bIns="0" rtlCol="0" anchor="t"/>
          <a:lstStyle/>
          <a:p>
            <a:pPr indent="0" marL="0">
              <a:buNone/>
            </a:pPr>
            <a:r>
              <a:rPr lang="en-US" sz="1200" dirty="0">
                <a:solidFill>
                  <a:schemeClr val="accent5"/>
                </a:solidFill>
              </a:rPr>
              <a:t>CV, lettre ciblée, devis, compte rendu : l'IA sert déjà le projet pro.</a:t>
            </a:r>
            <a:endParaRPr lang="en-US" sz="1200" dirty="0"/>
          </a:p>
        </p:txBody>
      </p:sp>
      <p:sp>
        <p:nvSpPr>
          <p:cNvPr id="32" name="piste-2"/>
          <p:cNvSpPr/>
          <p:nvPr/>
        </p:nvSpPr>
        <p:spPr>
          <a:xfrm>
            <a:off x="3337560" y="4315968"/>
            <a:ext cx="2606040" cy="1691640"/>
          </a:xfrm>
          <a:prstGeom prst="roundRect">
            <a:avLst>
              <a:gd name="adj" fmla="val 6486"/>
            </a:avLst>
          </a:prstGeom>
          <a:solidFill>
            <a:srgbClr val="2B2B2B"/>
          </a:solidFill>
          <a:ln w="12700">
            <a:solidFill>
              <a:schemeClr val="accent1"/>
            </a:solidFill>
            <a:prstDash val="solid"/>
          </a:ln>
        </p:spPr>
      </p:sp>
      <p:sp>
        <p:nvSpPr>
          <p:cNvPr id="33" name="Text 24"/>
          <p:cNvSpPr txBox="1"/>
          <p:nvPr/>
        </p:nvSpPr>
        <p:spPr>
          <a:xfrm>
            <a:off x="3520440" y="4462272"/>
            <a:ext cx="731520" cy="457200"/>
          </a:xfrm>
          <a:prstGeom prst="rect">
            <a:avLst/>
          </a:prstGeom>
          <a:noFill/>
          <a:ln/>
        </p:spPr>
        <p:txBody>
          <a:bodyPr wrap="square" lIns="0" tIns="0" rIns="0" bIns="0" rtlCol="0" anchor="ctr"/>
          <a:lstStyle/>
          <a:p>
            <a:pPr indent="0" marL="0">
              <a:buNone/>
            </a:pPr>
            <a:r>
              <a:rPr lang="en-US" sz="2600" b="1" dirty="0">
                <a:solidFill>
                  <a:schemeClr val="accent2"/>
                </a:solidFill>
              </a:rPr>
              <a:t>02</a:t>
            </a:r>
            <a:endParaRPr lang="en-US" sz="2600" dirty="0"/>
          </a:p>
        </p:txBody>
      </p:sp>
      <p:pic>
        <p:nvPicPr>
          <p:cNvPr id="34" name="Image 6" descr="preencoded.png">    </p:cNvPr>
          <p:cNvPicPr>
            <a:picLocks noChangeAspect="1"/>
          </p:cNvPicPr>
          <p:nvPr/>
        </p:nvPicPr>
        <p:blipFill>
          <a:blip r:embed="rId7"/>
          <a:stretch>
            <a:fillRect/>
          </a:stretch>
        </p:blipFill>
        <p:spPr>
          <a:xfrm>
            <a:off x="5394960" y="4498848"/>
            <a:ext cx="365760" cy="365760"/>
          </a:xfrm>
          <a:prstGeom prst="rect">
            <a:avLst/>
          </a:prstGeom>
        </p:spPr>
      </p:pic>
      <p:sp>
        <p:nvSpPr>
          <p:cNvPr id="35" name="Text 25"/>
          <p:cNvSpPr txBox="1"/>
          <p:nvPr/>
        </p:nvSpPr>
        <p:spPr>
          <a:xfrm>
            <a:off x="3520440" y="4956048"/>
            <a:ext cx="2286000" cy="365760"/>
          </a:xfrm>
          <a:prstGeom prst="rect">
            <a:avLst/>
          </a:prstGeom>
          <a:noFill/>
          <a:ln/>
        </p:spPr>
        <p:txBody>
          <a:bodyPr wrap="square" lIns="0" tIns="0" rIns="0" bIns="0" rtlCol="0" anchor="t"/>
          <a:lstStyle/>
          <a:p>
            <a:pPr indent="0" marL="0">
              <a:buNone/>
            </a:pPr>
            <a:r>
              <a:rPr lang="en-US" sz="1400" b="1" dirty="0">
                <a:solidFill>
                  <a:schemeClr val="bg2"/>
                </a:solidFill>
              </a:rPr>
              <a:t>Vérifier avant d'utiliser</a:t>
            </a:r>
            <a:endParaRPr lang="en-US" sz="1400" dirty="0"/>
          </a:p>
        </p:txBody>
      </p:sp>
      <p:sp>
        <p:nvSpPr>
          <p:cNvPr id="36" name="Text 26"/>
          <p:cNvSpPr txBox="1"/>
          <p:nvPr/>
        </p:nvSpPr>
        <p:spPr>
          <a:xfrm>
            <a:off x="3520440" y="5321808"/>
            <a:ext cx="2286000" cy="640080"/>
          </a:xfrm>
          <a:prstGeom prst="rect">
            <a:avLst/>
          </a:prstGeom>
          <a:noFill/>
          <a:ln/>
        </p:spPr>
        <p:txBody>
          <a:bodyPr wrap="square" lIns="0" tIns="0" rIns="0" bIns="0" rtlCol="0" anchor="t"/>
          <a:lstStyle/>
          <a:p>
            <a:pPr indent="0" marL="0">
              <a:buNone/>
            </a:pPr>
            <a:r>
              <a:rPr lang="en-US" sz="1200" dirty="0">
                <a:solidFill>
                  <a:schemeClr val="accent5"/>
                </a:solidFill>
              </a:rPr>
              <a:t>Fact checking et lecture des sources : la demande est explicite.</a:t>
            </a:r>
            <a:endParaRPr lang="en-US" sz="1200" dirty="0"/>
          </a:p>
        </p:txBody>
      </p:sp>
      <p:sp>
        <p:nvSpPr>
          <p:cNvPr id="37" name="piste-3"/>
          <p:cNvSpPr/>
          <p:nvPr/>
        </p:nvSpPr>
        <p:spPr>
          <a:xfrm>
            <a:off x="6126480" y="4315968"/>
            <a:ext cx="2606040" cy="1691640"/>
          </a:xfrm>
          <a:prstGeom prst="roundRect">
            <a:avLst>
              <a:gd name="adj" fmla="val 6486"/>
            </a:avLst>
          </a:prstGeom>
          <a:solidFill>
            <a:srgbClr val="2B2B2B"/>
          </a:solidFill>
          <a:ln w="12700">
            <a:solidFill>
              <a:schemeClr val="accent1"/>
            </a:solidFill>
            <a:prstDash val="solid"/>
          </a:ln>
        </p:spPr>
      </p:sp>
      <p:sp>
        <p:nvSpPr>
          <p:cNvPr id="38" name="Text 28"/>
          <p:cNvSpPr txBox="1"/>
          <p:nvPr/>
        </p:nvSpPr>
        <p:spPr>
          <a:xfrm>
            <a:off x="6309360" y="4462272"/>
            <a:ext cx="731520" cy="457200"/>
          </a:xfrm>
          <a:prstGeom prst="rect">
            <a:avLst/>
          </a:prstGeom>
          <a:noFill/>
          <a:ln/>
        </p:spPr>
        <p:txBody>
          <a:bodyPr wrap="square" lIns="0" tIns="0" rIns="0" bIns="0" rtlCol="0" anchor="ctr"/>
          <a:lstStyle/>
          <a:p>
            <a:pPr indent="0" marL="0">
              <a:buNone/>
            </a:pPr>
            <a:r>
              <a:rPr lang="en-US" sz="2600" b="1" dirty="0">
                <a:solidFill>
                  <a:schemeClr val="accent2"/>
                </a:solidFill>
              </a:rPr>
              <a:t>03</a:t>
            </a:r>
            <a:endParaRPr lang="en-US" sz="2600" dirty="0"/>
          </a:p>
        </p:txBody>
      </p:sp>
      <p:pic>
        <p:nvPicPr>
          <p:cNvPr id="39" name="Image 7" descr="preencoded.png">    </p:cNvPr>
          <p:cNvPicPr>
            <a:picLocks noChangeAspect="1"/>
          </p:cNvPicPr>
          <p:nvPr/>
        </p:nvPicPr>
        <p:blipFill>
          <a:blip r:embed="rId8"/>
          <a:stretch>
            <a:fillRect/>
          </a:stretch>
        </p:blipFill>
        <p:spPr>
          <a:xfrm>
            <a:off x="8183880" y="4498848"/>
            <a:ext cx="365760" cy="365760"/>
          </a:xfrm>
          <a:prstGeom prst="rect">
            <a:avLst/>
          </a:prstGeom>
        </p:spPr>
      </p:pic>
      <p:sp>
        <p:nvSpPr>
          <p:cNvPr id="40" name="Text 29"/>
          <p:cNvSpPr txBox="1"/>
          <p:nvPr/>
        </p:nvSpPr>
        <p:spPr>
          <a:xfrm>
            <a:off x="6309360" y="4956048"/>
            <a:ext cx="2286000" cy="365760"/>
          </a:xfrm>
          <a:prstGeom prst="rect">
            <a:avLst/>
          </a:prstGeom>
          <a:noFill/>
          <a:ln/>
        </p:spPr>
        <p:txBody>
          <a:bodyPr wrap="square" lIns="0" tIns="0" rIns="0" bIns="0" rtlCol="0" anchor="t"/>
          <a:lstStyle/>
          <a:p>
            <a:pPr indent="0" marL="0">
              <a:buNone/>
            </a:pPr>
            <a:r>
              <a:rPr lang="en-US" sz="1400" b="1" dirty="0">
                <a:solidFill>
                  <a:schemeClr val="bg2"/>
                </a:solidFill>
              </a:rPr>
              <a:t>Protéger ses données</a:t>
            </a:r>
            <a:endParaRPr lang="en-US" sz="1400" dirty="0"/>
          </a:p>
        </p:txBody>
      </p:sp>
      <p:sp>
        <p:nvSpPr>
          <p:cNvPr id="41" name="Text 30"/>
          <p:cNvSpPr txBox="1"/>
          <p:nvPr/>
        </p:nvSpPr>
        <p:spPr>
          <a:xfrm>
            <a:off x="6309360" y="5321808"/>
            <a:ext cx="2286000" cy="640080"/>
          </a:xfrm>
          <a:prstGeom prst="rect">
            <a:avLst/>
          </a:prstGeom>
          <a:noFill/>
          <a:ln/>
        </p:spPr>
        <p:txBody>
          <a:bodyPr wrap="square" lIns="0" tIns="0" rIns="0" bIns="0" rtlCol="0" anchor="t"/>
          <a:lstStyle/>
          <a:p>
            <a:pPr indent="0" marL="0">
              <a:buNone/>
            </a:pPr>
            <a:r>
              <a:rPr lang="en-US" sz="1200" dirty="0">
                <a:solidFill>
                  <a:schemeClr val="accent5"/>
                </a:solidFill>
              </a:rPr>
              <a:t>CV et emails contiennent des données personnelles : règles à poser.</a:t>
            </a:r>
            <a:endParaRPr lang="en-US" sz="1200" dirty="0"/>
          </a:p>
        </p:txBody>
      </p:sp>
      <p:sp>
        <p:nvSpPr>
          <p:cNvPr id="42" name="piste-4"/>
          <p:cNvSpPr/>
          <p:nvPr/>
        </p:nvSpPr>
        <p:spPr>
          <a:xfrm>
            <a:off x="8915400" y="4315968"/>
            <a:ext cx="2606040" cy="1691640"/>
          </a:xfrm>
          <a:prstGeom prst="roundRect">
            <a:avLst>
              <a:gd name="adj" fmla="val 6486"/>
            </a:avLst>
          </a:prstGeom>
          <a:solidFill>
            <a:srgbClr val="2B2B2B"/>
          </a:solidFill>
          <a:ln w="12700">
            <a:solidFill>
              <a:schemeClr val="accent1"/>
            </a:solidFill>
            <a:prstDash val="solid"/>
          </a:ln>
        </p:spPr>
      </p:sp>
      <p:sp>
        <p:nvSpPr>
          <p:cNvPr id="43" name="Text 32"/>
          <p:cNvSpPr txBox="1"/>
          <p:nvPr/>
        </p:nvSpPr>
        <p:spPr>
          <a:xfrm>
            <a:off x="9098280" y="4462272"/>
            <a:ext cx="731520" cy="457200"/>
          </a:xfrm>
          <a:prstGeom prst="rect">
            <a:avLst/>
          </a:prstGeom>
          <a:noFill/>
          <a:ln/>
        </p:spPr>
        <p:txBody>
          <a:bodyPr wrap="square" lIns="0" tIns="0" rIns="0" bIns="0" rtlCol="0" anchor="ctr"/>
          <a:lstStyle/>
          <a:p>
            <a:pPr indent="0" marL="0">
              <a:buNone/>
            </a:pPr>
            <a:r>
              <a:rPr lang="en-US" sz="2600" b="1" dirty="0">
                <a:solidFill>
                  <a:schemeClr val="accent2"/>
                </a:solidFill>
              </a:rPr>
              <a:t>04</a:t>
            </a:r>
            <a:endParaRPr lang="en-US" sz="2600" dirty="0"/>
          </a:p>
        </p:txBody>
      </p:sp>
      <p:pic>
        <p:nvPicPr>
          <p:cNvPr id="44" name="Image 8" descr="preencoded.png">    </p:cNvPr>
          <p:cNvPicPr>
            <a:picLocks noChangeAspect="1"/>
          </p:cNvPicPr>
          <p:nvPr/>
        </p:nvPicPr>
        <p:blipFill>
          <a:blip r:embed="rId9"/>
          <a:stretch>
            <a:fillRect/>
          </a:stretch>
        </p:blipFill>
        <p:spPr>
          <a:xfrm>
            <a:off x="10972800" y="4498848"/>
            <a:ext cx="365760" cy="365760"/>
          </a:xfrm>
          <a:prstGeom prst="rect">
            <a:avLst/>
          </a:prstGeom>
        </p:spPr>
      </p:pic>
      <p:sp>
        <p:nvSpPr>
          <p:cNvPr id="45" name="Text 33"/>
          <p:cNvSpPr txBox="1"/>
          <p:nvPr/>
        </p:nvSpPr>
        <p:spPr>
          <a:xfrm>
            <a:off x="9098280" y="4956048"/>
            <a:ext cx="2286000" cy="365760"/>
          </a:xfrm>
          <a:prstGeom prst="rect">
            <a:avLst/>
          </a:prstGeom>
          <a:noFill/>
          <a:ln/>
        </p:spPr>
        <p:txBody>
          <a:bodyPr wrap="square" lIns="0" tIns="0" rIns="0" bIns="0" rtlCol="0" anchor="t"/>
          <a:lstStyle/>
          <a:p>
            <a:pPr indent="0" marL="0">
              <a:buNone/>
            </a:pPr>
            <a:r>
              <a:rPr lang="en-US" sz="1400" b="1" dirty="0">
                <a:solidFill>
                  <a:schemeClr val="bg2"/>
                </a:solidFill>
              </a:rPr>
              <a:t>Pratiquer sur téléphone</a:t>
            </a:r>
            <a:endParaRPr lang="en-US" sz="1400" dirty="0"/>
          </a:p>
        </p:txBody>
      </p:sp>
      <p:sp>
        <p:nvSpPr>
          <p:cNvPr id="46" name="Text 34"/>
          <p:cNvSpPr txBox="1"/>
          <p:nvPr/>
        </p:nvSpPr>
        <p:spPr>
          <a:xfrm>
            <a:off x="9098280" y="5321808"/>
            <a:ext cx="2286000" cy="640080"/>
          </a:xfrm>
          <a:prstGeom prst="rect">
            <a:avLst/>
          </a:prstGeom>
          <a:noFill/>
          <a:ln/>
        </p:spPr>
        <p:txBody>
          <a:bodyPr wrap="square" lIns="0" tIns="0" rIns="0" bIns="0" rtlCol="0" anchor="t"/>
          <a:lstStyle/>
          <a:p>
            <a:pPr indent="0" marL="0">
              <a:buNone/>
            </a:pPr>
            <a:r>
              <a:rPr lang="en-US" sz="1200" dirty="0">
                <a:solidFill>
                  <a:schemeClr val="accent5"/>
                </a:solidFill>
              </a:rPr>
              <a:t>L'outil du quotidien du groupe : ateliers à adapter au mobile.</a:t>
            </a:r>
            <a:endParaRPr lang="en-US" sz="1200" dirty="0"/>
          </a:p>
        </p:txBody>
      </p:sp>
      <p:sp>
        <p:nvSpPr>
          <p:cNvPr id="25" name="Slide Number Placeholder 0"/>
          <p:cNvSpPr>
            <a:spLocks noGrp="1"/>
          </p:cNvSpPr>
          <p:nvPr>
            <p:ph type="sldNum" sz="quarter" idx="4294967295"/>
          </p:nvPr>
        </p:nvSpPr>
        <p:spPr>
          <a:xfrm>
            <a:off x="10744200" y="638251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cadreIActif Graphite Jade">
  <a:themeElements>
    <a:clrScheme name="cadreIActif Graphite Jade">
      <a:dk1>
        <a:srgbClr val="1E1E1E"/>
      </a:dk1>
      <a:lt1>
        <a:srgbClr val="FFFFFF"/>
      </a:lt1>
      <a:dk2>
        <a:srgbClr val="2A4A3E"/>
      </a:dk2>
      <a:lt2>
        <a:srgbClr val="F7F7F5"/>
      </a:lt2>
      <a:accent1>
        <a:srgbClr val="4CAF82"/>
      </a:accent1>
      <a:accent2>
        <a:srgbClr val="E8C547"/>
      </a:accent2>
      <a:accent3>
        <a:srgbClr val="2A4A3E"/>
      </a:accent3>
      <a:accent4>
        <a:srgbClr val="5C5C5C"/>
      </a:accent4>
      <a:accent5>
        <a:srgbClr val="E4F3EB"/>
      </a:accent5>
      <a:accent6>
        <a:srgbClr val="FBF3D3"/>
      </a:accent6>
      <a:hlink>
        <a:srgbClr val="4CAF82"/>
      </a:hlink>
      <a:folHlink>
        <a:srgbClr val="2A4A3E"/>
      </a:folHlink>
    </a:clrScheme>
    <a:fontScheme name="cadreIActif Graphite Jad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cadreIActif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 de table IA - Mission Locale de Saint-Brieuc</dc:title>
  <dc:subject>PptxGenJS Presentation</dc:subject>
  <dc:creator>Isabelle Houdaille</dc:creator>
  <cp:lastModifiedBy>Isabelle Houdaille</cp:lastModifiedBy>
  <cp:revision>1</cp:revision>
  <dcterms:created xsi:type="dcterms:W3CDTF">2026-10-12T08:58:51Z</dcterms:created>
  <dcterms:modified xsi:type="dcterms:W3CDTF">2026-10-12T08:58:51Z</dcterms:modified>
</cp:coreProperties>
</file>